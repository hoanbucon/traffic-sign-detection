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25"/>
  </p:notesMasterIdLst>
  <p:sldIdLst>
    <p:sldId id="256" r:id="rId2"/>
    <p:sldId id="257" r:id="rId3"/>
    <p:sldId id="258" r:id="rId4"/>
    <p:sldId id="259" r:id="rId5"/>
    <p:sldId id="269" r:id="rId6"/>
    <p:sldId id="260" r:id="rId7"/>
    <p:sldId id="263" r:id="rId8"/>
    <p:sldId id="261" r:id="rId9"/>
    <p:sldId id="262" r:id="rId10"/>
    <p:sldId id="270" r:id="rId11"/>
    <p:sldId id="271" r:id="rId12"/>
    <p:sldId id="278" r:id="rId13"/>
    <p:sldId id="266" r:id="rId14"/>
    <p:sldId id="272" r:id="rId15"/>
    <p:sldId id="279" r:id="rId16"/>
    <p:sldId id="273" r:id="rId17"/>
    <p:sldId id="274" r:id="rId18"/>
    <p:sldId id="280" r:id="rId19"/>
    <p:sldId id="267" r:id="rId20"/>
    <p:sldId id="275" r:id="rId21"/>
    <p:sldId id="276" r:id="rId22"/>
    <p:sldId id="277" r:id="rId23"/>
    <p:sldId id="268" r:id="rId24"/>
  </p:sldIdLst>
  <p:sldSz cx="9902825"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119">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3E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718"/>
  </p:normalViewPr>
  <p:slideViewPr>
    <p:cSldViewPr snapToGrid="0">
      <p:cViewPr varScale="1">
        <p:scale>
          <a:sx n="110" d="100"/>
          <a:sy n="110" d="100"/>
        </p:scale>
        <p:origin x="748" y="80"/>
      </p:cViewPr>
      <p:guideLst>
        <p:guide pos="3119"/>
        <p:guide orient="horz" pos="216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5" name="Google Shape;5;n"/>
          <p:cNvSpPr>
            <a:spLocks noGrp="1" noRot="1" noChangeAspect="1"/>
          </p:cNvSpPr>
          <p:nvPr>
            <p:ph type="sldImg" idx="3"/>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L="914400" marR="0" lvl="1"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2pPr>
            <a:lvl3pPr marL="1371600" marR="0" lvl="2"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3pPr>
            <a:lvl4pPr marL="1828800" marR="0" lvl="3"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4pPr>
            <a:lvl5pPr marL="2286000" marR="0" lvl="4"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5pPr>
            <a:lvl6pPr marL="2743200" marR="0" lvl="5"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6pPr>
            <a:lvl7pPr marL="3200400" marR="0" lvl="6"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7pPr>
            <a:lvl8pPr marL="3657600" marR="0" lvl="7"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8pPr>
            <a:lvl9pPr marL="4114800" marR="0" lvl="8"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Malgun Gothic"/>
                <a:ea typeface="Malgun Gothic"/>
                <a:cs typeface="Malgun Gothic"/>
                <a:sym typeface="Malgun Gothic"/>
              </a:rPr>
              <a:t>‹#›</a:t>
            </a:fld>
            <a:endParaRPr sz="1200" b="0" i="0" u="none" strike="noStrike" cap="none">
              <a:solidFill>
                <a:schemeClr val="dk1"/>
              </a:solidFill>
              <a:latin typeface="Malgun Gothic"/>
              <a:ea typeface="Malgun Gothic"/>
              <a:cs typeface="Malgun Gothic"/>
              <a:sym typeface="Malgun Gothic"/>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1: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72b26d1cd0_0_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372b26d1cd0_0_4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72b26d1cd0_0_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g372b26d1cd0_0_4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23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72b26d1cd0_0_5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g372b26d1cd0_0_51: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72b26d1cd0_0_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g372b26d1cd0_0_3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72c0e61975_1_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g372c0e61975_1_3: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72c0e61975_1_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g372c0e61975_1_43: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72c0e61975_1_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372c0e61975_1_3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844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72c0e61975_1_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372c0e61975_1_3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55635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72b26d1cd0_0_8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g372b26d1cd0_0_81: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72b26d1cd0_0_8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g372b26d1cd0_0_81: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6749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72b26d1cd0_0_8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g372b26d1cd0_0_81: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36668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72b26d1cd0_0_8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g372b26d1cd0_0_81: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76303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72b26d1cd0_0_8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g372b26d1cd0_0_88: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72b26d1cd0_0_8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g372b26d1cd0_0_88: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76790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72b26d1cd0_0_8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g372b26d1cd0_0_88: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22999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4: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Front Cover">
  <p:cSld name="Front Cover">
    <p:bg>
      <p:bgPr>
        <a:solidFill>
          <a:srgbClr val="F2F2F2"/>
        </a:solidFill>
        <a:effectLst/>
      </p:bgPr>
    </p:bg>
    <p:spTree>
      <p:nvGrpSpPr>
        <p:cNvPr id="1" name="Shape 10"/>
        <p:cNvGrpSpPr/>
        <p:nvPr/>
      </p:nvGrpSpPr>
      <p:grpSpPr>
        <a:xfrm>
          <a:off x="0" y="0"/>
          <a:ext cx="0" cy="0"/>
          <a:chOff x="0" y="0"/>
          <a:chExt cx="0" cy="0"/>
        </a:xfrm>
      </p:grpSpPr>
      <p:pic>
        <p:nvPicPr>
          <p:cNvPr id="11" name="Google Shape;11;p2"/>
          <p:cNvPicPr preferRelativeResize="0"/>
          <p:nvPr/>
        </p:nvPicPr>
        <p:blipFill rotWithShape="1">
          <a:blip r:embed="rId2">
            <a:alphaModFix/>
          </a:blip>
          <a:srcRect/>
          <a:stretch/>
        </p:blipFill>
        <p:spPr>
          <a:xfrm>
            <a:off x="0" y="0"/>
            <a:ext cx="9902825" cy="6858000"/>
          </a:xfrm>
          <a:prstGeom prst="rect">
            <a:avLst/>
          </a:prstGeom>
          <a:noFill/>
          <a:ln>
            <a:noFill/>
          </a:ln>
        </p:spPr>
      </p:pic>
      <p:sp>
        <p:nvSpPr>
          <p:cNvPr id="12" name="Google Shape;12;p2"/>
          <p:cNvSpPr/>
          <p:nvPr/>
        </p:nvSpPr>
        <p:spPr>
          <a:xfrm>
            <a:off x="449468" y="450000"/>
            <a:ext cx="1282022" cy="198000"/>
          </a:xfrm>
          <a:custGeom>
            <a:avLst/>
            <a:gdLst/>
            <a:ahLst/>
            <a:cxnLst/>
            <a:rect l="l" t="t" r="r" b="b"/>
            <a:pathLst>
              <a:path w="2179" h="334" extrusionOk="0">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chemeClr val="dk1"/>
              </a:buClr>
              <a:buSzPts val="1959"/>
              <a:buFont typeface="Arial"/>
              <a:buNone/>
            </a:pPr>
            <a:endParaRPr sz="1959" b="0" i="0" u="none" strike="noStrike" cap="none">
              <a:solidFill>
                <a:schemeClr val="dk1"/>
              </a:solidFill>
              <a:latin typeface="Arial"/>
              <a:ea typeface="Arial"/>
              <a:cs typeface="Arial"/>
              <a:sym typeface="Arial"/>
            </a:endParaRPr>
          </a:p>
        </p:txBody>
      </p:sp>
      <p:pic>
        <p:nvPicPr>
          <p:cNvPr id="13" name="Google Shape;13;p2"/>
          <p:cNvPicPr preferRelativeResize="0"/>
          <p:nvPr/>
        </p:nvPicPr>
        <p:blipFill rotWithShape="1">
          <a:blip r:embed="rId3">
            <a:alphaModFix/>
          </a:blip>
          <a:srcRect/>
          <a:stretch/>
        </p:blipFill>
        <p:spPr>
          <a:xfrm>
            <a:off x="4265631" y="6141164"/>
            <a:ext cx="1371564" cy="450000"/>
          </a:xfrm>
          <a:prstGeom prst="rect">
            <a:avLst/>
          </a:prstGeom>
          <a:noFill/>
          <a:ln>
            <a:noFill/>
          </a:ln>
        </p:spPr>
      </p:pic>
      <p:sp>
        <p:nvSpPr>
          <p:cNvPr id="14" name="Google Shape;14;p2"/>
          <p:cNvSpPr/>
          <p:nvPr/>
        </p:nvSpPr>
        <p:spPr>
          <a:xfrm>
            <a:off x="990000" y="4320000"/>
            <a:ext cx="5832526" cy="3693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400" b="0" i="0" u="none" strike="noStrike" cap="none">
                <a:solidFill>
                  <a:srgbClr val="1428A0"/>
                </a:solidFill>
                <a:latin typeface="Arial"/>
                <a:ea typeface="Arial"/>
                <a:cs typeface="Arial"/>
                <a:sym typeface="Arial"/>
              </a:rPr>
              <a:t>Artificial Intelligence Course</a:t>
            </a:r>
            <a:endParaRPr sz="2400" b="0" i="0" u="none" strike="noStrike" cap="none">
              <a:solidFill>
                <a:srgbClr val="1428A0"/>
              </a:solidFill>
              <a:latin typeface="Arial"/>
              <a:ea typeface="Arial"/>
              <a:cs typeface="Arial"/>
              <a:sym typeface="Arial"/>
            </a:endParaRPr>
          </a:p>
        </p:txBody>
      </p:sp>
      <p:sp>
        <p:nvSpPr>
          <p:cNvPr id="15" name="Google Shape;15;p2"/>
          <p:cNvSpPr/>
          <p:nvPr/>
        </p:nvSpPr>
        <p:spPr>
          <a:xfrm>
            <a:off x="724689" y="4320000"/>
            <a:ext cx="54000" cy="360000"/>
          </a:xfrm>
          <a:prstGeom prst="rect">
            <a:avLst/>
          </a:prstGeom>
          <a:solidFill>
            <a:srgbClr val="1428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6" name="Google Shape;16;p2"/>
          <p:cNvSpPr txBox="1">
            <a:spLocks noGrp="1"/>
          </p:cNvSpPr>
          <p:nvPr>
            <p:ph type="body" idx="1"/>
          </p:nvPr>
        </p:nvSpPr>
        <p:spPr>
          <a:xfrm>
            <a:off x="720000" y="3551768"/>
            <a:ext cx="6837808" cy="27699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7F7F7F"/>
              </a:buClr>
              <a:buSzPts val="1800"/>
              <a:buFont typeface="Arial"/>
              <a:buNone/>
              <a:defRPr sz="1800" b="0" i="0" u="none" strike="noStrike" cap="none">
                <a:solidFill>
                  <a:srgbClr val="7F7F7F"/>
                </a:solidFill>
                <a:latin typeface="Arial"/>
                <a:ea typeface="Arial"/>
                <a:cs typeface="Arial"/>
                <a:sym typeface="Arial"/>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Arial"/>
                <a:ea typeface="Arial"/>
                <a:cs typeface="Arial"/>
                <a:sym typeface="Arial"/>
              </a:defRPr>
            </a:lvl2pPr>
            <a:lvl3pPr marL="1371600" marR="0" lvl="2" indent="-355536" algn="l" rtl="0">
              <a:lnSpc>
                <a:spcPct val="90000"/>
              </a:lnSpc>
              <a:spcBef>
                <a:spcPts val="500"/>
              </a:spcBef>
              <a:spcAft>
                <a:spcPts val="0"/>
              </a:spcAft>
              <a:buClr>
                <a:schemeClr val="dk1"/>
              </a:buClr>
              <a:buSzPts val="1999"/>
              <a:buFont typeface="Arial"/>
              <a:buChar char="•"/>
              <a:defRPr sz="1999" b="0" i="0" u="none" strike="noStrike" cap="none">
                <a:solidFill>
                  <a:schemeClr val="dk1"/>
                </a:solidFill>
                <a:latin typeface="Arial"/>
                <a:ea typeface="Arial"/>
                <a:cs typeface="Arial"/>
                <a:sym typeface="Arial"/>
              </a:defRPr>
            </a:lvl3pPr>
            <a:lvl4pPr marL="1828800" marR="0" lvl="3"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4pPr>
            <a:lvl5pPr marL="2286000" marR="0" lvl="4"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5pPr>
            <a:lvl6pPr marL="2743200" marR="0" lvl="5"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6pPr>
            <a:lvl7pPr marL="3200400" marR="0" lvl="6"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7pPr>
            <a:lvl8pPr marL="3657600" marR="0" lvl="7"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8pPr>
            <a:lvl9pPr marL="4114800" marR="0" lvl="8"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9pPr>
          </a:lstStyle>
          <a:p>
            <a:endParaRPr/>
          </a:p>
        </p:txBody>
      </p:sp>
      <p:sp>
        <p:nvSpPr>
          <p:cNvPr id="17" name="Google Shape;17;p2"/>
          <p:cNvSpPr txBox="1">
            <a:spLocks noGrp="1"/>
          </p:cNvSpPr>
          <p:nvPr>
            <p:ph type="title"/>
          </p:nvPr>
        </p:nvSpPr>
        <p:spPr>
          <a:xfrm>
            <a:off x="720000" y="1710000"/>
            <a:ext cx="5221019" cy="1477328"/>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solidFill>
                  <a:schemeClr val="lt1"/>
                </a:solidFill>
                <a:latin typeface="Arial"/>
                <a:ea typeface="Arial"/>
                <a:cs typeface="Arial"/>
                <a:sym typeface="Arial"/>
              </a:defRPr>
            </a:lvl2pPr>
            <a:lvl3pPr lvl="2">
              <a:spcBef>
                <a:spcPts val="0"/>
              </a:spcBef>
              <a:spcAft>
                <a:spcPts val="0"/>
              </a:spcAft>
              <a:buSzPts val="1400"/>
              <a:buNone/>
              <a:defRPr sz="1800">
                <a:solidFill>
                  <a:schemeClr val="lt1"/>
                </a:solidFill>
                <a:latin typeface="Arial"/>
                <a:ea typeface="Arial"/>
                <a:cs typeface="Arial"/>
                <a:sym typeface="Arial"/>
              </a:defRPr>
            </a:lvl3pPr>
            <a:lvl4pPr lvl="3">
              <a:spcBef>
                <a:spcPts val="0"/>
              </a:spcBef>
              <a:spcAft>
                <a:spcPts val="0"/>
              </a:spcAft>
              <a:buSzPts val="1400"/>
              <a:buNone/>
              <a:defRPr sz="1800">
                <a:solidFill>
                  <a:schemeClr val="lt1"/>
                </a:solidFill>
                <a:latin typeface="Arial"/>
                <a:ea typeface="Arial"/>
                <a:cs typeface="Arial"/>
                <a:sym typeface="Arial"/>
              </a:defRPr>
            </a:lvl4pPr>
            <a:lvl5pPr lvl="4">
              <a:spcBef>
                <a:spcPts val="0"/>
              </a:spcBef>
              <a:spcAft>
                <a:spcPts val="0"/>
              </a:spcAft>
              <a:buSzPts val="1400"/>
              <a:buNone/>
              <a:defRPr sz="1800">
                <a:solidFill>
                  <a:schemeClr val="lt1"/>
                </a:solidFill>
                <a:latin typeface="Arial"/>
                <a:ea typeface="Arial"/>
                <a:cs typeface="Arial"/>
                <a:sym typeface="Arial"/>
              </a:defRPr>
            </a:lvl5pPr>
            <a:lvl6pPr lvl="5">
              <a:spcBef>
                <a:spcPts val="0"/>
              </a:spcBef>
              <a:spcAft>
                <a:spcPts val="0"/>
              </a:spcAft>
              <a:buSzPts val="1400"/>
              <a:buNone/>
              <a:defRPr sz="1800">
                <a:solidFill>
                  <a:schemeClr val="lt1"/>
                </a:solidFill>
                <a:latin typeface="Arial"/>
                <a:ea typeface="Arial"/>
                <a:cs typeface="Arial"/>
                <a:sym typeface="Arial"/>
              </a:defRPr>
            </a:lvl6pPr>
            <a:lvl7pPr lvl="6">
              <a:spcBef>
                <a:spcPts val="0"/>
              </a:spcBef>
              <a:spcAft>
                <a:spcPts val="0"/>
              </a:spcAft>
              <a:buSzPts val="1400"/>
              <a:buNone/>
              <a:defRPr sz="1800">
                <a:solidFill>
                  <a:schemeClr val="lt1"/>
                </a:solidFill>
                <a:latin typeface="Arial"/>
                <a:ea typeface="Arial"/>
                <a:cs typeface="Arial"/>
                <a:sym typeface="Arial"/>
              </a:defRPr>
            </a:lvl7pPr>
            <a:lvl8pPr lvl="7">
              <a:spcBef>
                <a:spcPts val="0"/>
              </a:spcBef>
              <a:spcAft>
                <a:spcPts val="0"/>
              </a:spcAft>
              <a:buSzPts val="1400"/>
              <a:buNone/>
              <a:defRPr sz="1800">
                <a:solidFill>
                  <a:schemeClr val="lt1"/>
                </a:solidFill>
                <a:latin typeface="Arial"/>
                <a:ea typeface="Arial"/>
                <a:cs typeface="Arial"/>
                <a:sym typeface="Arial"/>
              </a:defRPr>
            </a:lvl8pPr>
            <a:lvl9pPr lvl="8">
              <a:spcBef>
                <a:spcPts val="0"/>
              </a:spcBef>
              <a:spcAft>
                <a:spcPts val="0"/>
              </a:spcAft>
              <a:buSzPts val="1400"/>
              <a:buNone/>
              <a:defRPr sz="1800">
                <a:solidFill>
                  <a:schemeClr val="lt1"/>
                </a:solidFill>
                <a:latin typeface="Arial"/>
                <a:ea typeface="Arial"/>
                <a:cs typeface="Arial"/>
                <a:sym typeface="Arial"/>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3_Table of Contents2">
  <p:cSld name="3_Table of Contents2">
    <p:spTree>
      <p:nvGrpSpPr>
        <p:cNvPr id="1"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a:stretch/>
        </p:blipFill>
        <p:spPr>
          <a:xfrm>
            <a:off x="-1588" y="0"/>
            <a:ext cx="9902825" cy="6858000"/>
          </a:xfrm>
          <a:prstGeom prst="rect">
            <a:avLst/>
          </a:prstGeom>
          <a:noFill/>
          <a:ln>
            <a:noFill/>
          </a:ln>
        </p:spPr>
      </p:pic>
      <p:cxnSp>
        <p:nvCxnSpPr>
          <p:cNvPr id="20" name="Google Shape;20;p3"/>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21" name="Google Shape;21;p3"/>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b="0" i="0" u="none" strike="noStrike" cap="none">
                <a:solidFill>
                  <a:srgbClr val="7F7F7F"/>
                </a:solidFill>
                <a:latin typeface="Arial"/>
                <a:ea typeface="Arial"/>
                <a:cs typeface="Arial"/>
                <a:sym typeface="Arial"/>
              </a:rPr>
              <a:t>‹#›</a:t>
            </a:fld>
            <a:endParaRPr sz="900" b="0" i="0" u="none" strike="noStrike" cap="none">
              <a:solidFill>
                <a:srgbClr val="7F7F7F"/>
              </a:solidFill>
              <a:latin typeface="Arial"/>
              <a:ea typeface="Arial"/>
              <a:cs typeface="Arial"/>
              <a:sym typeface="Arial"/>
            </a:endParaRPr>
          </a:p>
        </p:txBody>
      </p:sp>
      <p:sp>
        <p:nvSpPr>
          <p:cNvPr id="22" name="Google Shape;22;p3"/>
          <p:cNvSpPr/>
          <p:nvPr/>
        </p:nvSpPr>
        <p:spPr>
          <a:xfrm>
            <a:off x="449468" y="6498001"/>
            <a:ext cx="2888788" cy="169277"/>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0" i="0" u="none" strike="noStrike" cap="none">
                <a:solidFill>
                  <a:srgbClr val="7F7F7F"/>
                </a:solidFill>
                <a:latin typeface="Arial"/>
                <a:ea typeface="Arial"/>
                <a:cs typeface="Arial"/>
                <a:sym typeface="Arial"/>
              </a:rPr>
              <a:t>Samsung Innovation Campus</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614">
          <p15:clr>
            <a:srgbClr val="FBAE40"/>
          </p15:clr>
        </p15:guide>
        <p15:guide id="2" pos="443">
          <p15:clr>
            <a:srgbClr val="FBAE40"/>
          </p15:clr>
        </p15:guide>
        <p15:guide id="3" pos="5955">
          <p15:clr>
            <a:srgbClr val="FBAE40"/>
          </p15:clr>
        </p15:guide>
        <p15:guide id="4" pos="60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Table of Contents">
  <p:cSld name="2_Table of Contents">
    <p:spTree>
      <p:nvGrpSpPr>
        <p:cNvPr id="1" name="Shape 23"/>
        <p:cNvGrpSpPr/>
        <p:nvPr/>
      </p:nvGrpSpPr>
      <p:grpSpPr>
        <a:xfrm>
          <a:off x="0" y="0"/>
          <a:ext cx="0" cy="0"/>
          <a:chOff x="0" y="0"/>
          <a:chExt cx="0" cy="0"/>
        </a:xfrm>
      </p:grpSpPr>
      <p:pic>
        <p:nvPicPr>
          <p:cNvPr id="24" name="Google Shape;24;p4"/>
          <p:cNvPicPr preferRelativeResize="0"/>
          <p:nvPr/>
        </p:nvPicPr>
        <p:blipFill rotWithShape="1">
          <a:blip r:embed="rId2">
            <a:alphaModFix/>
          </a:blip>
          <a:srcRect/>
          <a:stretch/>
        </p:blipFill>
        <p:spPr>
          <a:xfrm>
            <a:off x="0" y="0"/>
            <a:ext cx="9902825" cy="6858000"/>
          </a:xfrm>
          <a:prstGeom prst="rect">
            <a:avLst/>
          </a:prstGeom>
          <a:noFill/>
          <a:ln>
            <a:noFill/>
          </a:ln>
        </p:spPr>
      </p:pic>
      <p:cxnSp>
        <p:nvCxnSpPr>
          <p:cNvPr id="25" name="Google Shape;25;p4"/>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26" name="Google Shape;26;p4"/>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27" name="Google Shape;27;p4"/>
          <p:cNvSpPr/>
          <p:nvPr/>
        </p:nvSpPr>
        <p:spPr>
          <a:xfrm>
            <a:off x="449468" y="6498001"/>
            <a:ext cx="2888788" cy="169277"/>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0">
                <a:solidFill>
                  <a:srgbClr val="7F7F7F"/>
                </a:solidFill>
                <a:latin typeface="Arial"/>
                <a:ea typeface="Arial"/>
                <a:cs typeface="Arial"/>
                <a:sym typeface="Arial"/>
              </a:rPr>
              <a:t>Samsung Innovation Campus</a:t>
            </a:r>
            <a:endParaRPr/>
          </a:p>
        </p:txBody>
      </p:sp>
      <p:sp>
        <p:nvSpPr>
          <p:cNvPr id="28" name="Google Shape;28;p4"/>
          <p:cNvSpPr txBox="1">
            <a:spLocks noGrp="1"/>
          </p:cNvSpPr>
          <p:nvPr>
            <p:ph type="title"/>
          </p:nvPr>
        </p:nvSpPr>
        <p:spPr>
          <a:xfrm>
            <a:off x="449468" y="1440000"/>
            <a:ext cx="8541187" cy="492443"/>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C0C0C"/>
              </a:buClr>
              <a:buSzPts val="3200"/>
              <a:buFont typeface="Arial"/>
              <a:buNone/>
              <a:defRPr sz="3200" b="0" i="0" u="none" strike="noStrike" cap="none">
                <a:solidFill>
                  <a:srgbClr val="0C0C0C"/>
                </a:solidFill>
                <a:latin typeface="Arial"/>
                <a:ea typeface="Arial"/>
                <a:cs typeface="Arial"/>
                <a:sym typeface="Arial"/>
              </a:defRPr>
            </a:lvl1pPr>
            <a:lvl2pPr lvl="1">
              <a:spcBef>
                <a:spcPts val="0"/>
              </a:spcBef>
              <a:spcAft>
                <a:spcPts val="0"/>
              </a:spcAft>
              <a:buSzPts val="1400"/>
              <a:buNone/>
              <a:defRPr sz="1800">
                <a:solidFill>
                  <a:schemeClr val="lt1"/>
                </a:solidFill>
                <a:latin typeface="Arial"/>
                <a:ea typeface="Arial"/>
                <a:cs typeface="Arial"/>
                <a:sym typeface="Arial"/>
              </a:defRPr>
            </a:lvl2pPr>
            <a:lvl3pPr lvl="2">
              <a:spcBef>
                <a:spcPts val="0"/>
              </a:spcBef>
              <a:spcAft>
                <a:spcPts val="0"/>
              </a:spcAft>
              <a:buSzPts val="1400"/>
              <a:buNone/>
              <a:defRPr sz="1800">
                <a:solidFill>
                  <a:schemeClr val="lt1"/>
                </a:solidFill>
                <a:latin typeface="Arial"/>
                <a:ea typeface="Arial"/>
                <a:cs typeface="Arial"/>
                <a:sym typeface="Arial"/>
              </a:defRPr>
            </a:lvl3pPr>
            <a:lvl4pPr lvl="3">
              <a:spcBef>
                <a:spcPts val="0"/>
              </a:spcBef>
              <a:spcAft>
                <a:spcPts val="0"/>
              </a:spcAft>
              <a:buSzPts val="1400"/>
              <a:buNone/>
              <a:defRPr sz="1800">
                <a:solidFill>
                  <a:schemeClr val="lt1"/>
                </a:solidFill>
                <a:latin typeface="Arial"/>
                <a:ea typeface="Arial"/>
                <a:cs typeface="Arial"/>
                <a:sym typeface="Arial"/>
              </a:defRPr>
            </a:lvl4pPr>
            <a:lvl5pPr lvl="4">
              <a:spcBef>
                <a:spcPts val="0"/>
              </a:spcBef>
              <a:spcAft>
                <a:spcPts val="0"/>
              </a:spcAft>
              <a:buSzPts val="1400"/>
              <a:buNone/>
              <a:defRPr sz="1800">
                <a:solidFill>
                  <a:schemeClr val="lt1"/>
                </a:solidFill>
                <a:latin typeface="Arial"/>
                <a:ea typeface="Arial"/>
                <a:cs typeface="Arial"/>
                <a:sym typeface="Arial"/>
              </a:defRPr>
            </a:lvl5pPr>
            <a:lvl6pPr lvl="5">
              <a:spcBef>
                <a:spcPts val="0"/>
              </a:spcBef>
              <a:spcAft>
                <a:spcPts val="0"/>
              </a:spcAft>
              <a:buSzPts val="1400"/>
              <a:buNone/>
              <a:defRPr sz="1800">
                <a:solidFill>
                  <a:schemeClr val="lt1"/>
                </a:solidFill>
                <a:latin typeface="Arial"/>
                <a:ea typeface="Arial"/>
                <a:cs typeface="Arial"/>
                <a:sym typeface="Arial"/>
              </a:defRPr>
            </a:lvl6pPr>
            <a:lvl7pPr lvl="6">
              <a:spcBef>
                <a:spcPts val="0"/>
              </a:spcBef>
              <a:spcAft>
                <a:spcPts val="0"/>
              </a:spcAft>
              <a:buSzPts val="1400"/>
              <a:buNone/>
              <a:defRPr sz="1800">
                <a:solidFill>
                  <a:schemeClr val="lt1"/>
                </a:solidFill>
                <a:latin typeface="Arial"/>
                <a:ea typeface="Arial"/>
                <a:cs typeface="Arial"/>
                <a:sym typeface="Arial"/>
              </a:defRPr>
            </a:lvl7pPr>
            <a:lvl8pPr lvl="7">
              <a:spcBef>
                <a:spcPts val="0"/>
              </a:spcBef>
              <a:spcAft>
                <a:spcPts val="0"/>
              </a:spcAft>
              <a:buSzPts val="1400"/>
              <a:buNone/>
              <a:defRPr sz="1800">
                <a:solidFill>
                  <a:schemeClr val="lt1"/>
                </a:solidFill>
                <a:latin typeface="Arial"/>
                <a:ea typeface="Arial"/>
                <a:cs typeface="Arial"/>
                <a:sym typeface="Arial"/>
              </a:defRPr>
            </a:lvl8pPr>
            <a:lvl9pPr lvl="8">
              <a:spcBef>
                <a:spcPts val="0"/>
              </a:spcBef>
              <a:spcAft>
                <a:spcPts val="0"/>
              </a:spcAft>
              <a:buSzPts val="1400"/>
              <a:buNone/>
              <a:defRPr sz="1800">
                <a:solidFill>
                  <a:schemeClr val="lt1"/>
                </a:solidFill>
                <a:latin typeface="Arial"/>
                <a:ea typeface="Arial"/>
                <a:cs typeface="Arial"/>
                <a:sym typeface="Arial"/>
              </a:defRPr>
            </a:lvl9pPr>
          </a:lstStyle>
          <a:p>
            <a:endParaRPr/>
          </a:p>
        </p:txBody>
      </p:sp>
      <p:sp>
        <p:nvSpPr>
          <p:cNvPr id="29" name="Google Shape;29;p4"/>
          <p:cNvSpPr txBox="1">
            <a:spLocks noGrp="1"/>
          </p:cNvSpPr>
          <p:nvPr>
            <p:ph type="body" idx="1"/>
          </p:nvPr>
        </p:nvSpPr>
        <p:spPr>
          <a:xfrm>
            <a:off x="449468" y="450000"/>
            <a:ext cx="323896" cy="2772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chemeClr val="lt1"/>
              </a:buClr>
              <a:buSzPts val="1799"/>
              <a:buFont typeface="Arial"/>
              <a:buNone/>
              <a:defRPr sz="1799" b="0" i="0" u="none" strike="noStrike" cap="none">
                <a:solidFill>
                  <a:schemeClr val="lt1"/>
                </a:solidFill>
                <a:latin typeface="Arial"/>
                <a:ea typeface="Arial"/>
                <a:cs typeface="Arial"/>
                <a:sym typeface="Arial"/>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Arial"/>
                <a:ea typeface="Arial"/>
                <a:cs typeface="Arial"/>
                <a:sym typeface="Arial"/>
              </a:defRPr>
            </a:lvl2pPr>
            <a:lvl3pPr marL="1371600" marR="0" lvl="2" indent="-355536" algn="l" rtl="0">
              <a:lnSpc>
                <a:spcPct val="90000"/>
              </a:lnSpc>
              <a:spcBef>
                <a:spcPts val="500"/>
              </a:spcBef>
              <a:spcAft>
                <a:spcPts val="0"/>
              </a:spcAft>
              <a:buClr>
                <a:schemeClr val="dk1"/>
              </a:buClr>
              <a:buSzPts val="1999"/>
              <a:buFont typeface="Arial"/>
              <a:buChar char="•"/>
              <a:defRPr sz="1999" b="0" i="0" u="none" strike="noStrike" cap="none">
                <a:solidFill>
                  <a:schemeClr val="dk1"/>
                </a:solidFill>
                <a:latin typeface="Arial"/>
                <a:ea typeface="Arial"/>
                <a:cs typeface="Arial"/>
                <a:sym typeface="Arial"/>
              </a:defRPr>
            </a:lvl3pPr>
            <a:lvl4pPr marL="1828800" marR="0" lvl="3"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4pPr>
            <a:lvl5pPr marL="2286000" marR="0" lvl="4"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5pPr>
            <a:lvl6pPr marL="2743200" marR="0" lvl="5"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6pPr>
            <a:lvl7pPr marL="3200400" marR="0" lvl="6"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7pPr>
            <a:lvl8pPr marL="3657600" marR="0" lvl="7"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8pPr>
            <a:lvl9pPr marL="4114800" marR="0" lvl="8"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9pPr>
          </a:lstStyle>
          <a:p>
            <a:endParaRPr/>
          </a:p>
        </p:txBody>
      </p:sp>
      <p:sp>
        <p:nvSpPr>
          <p:cNvPr id="30" name="Google Shape;30;p4"/>
          <p:cNvSpPr txBox="1">
            <a:spLocks noGrp="1"/>
          </p:cNvSpPr>
          <p:nvPr>
            <p:ph type="body" idx="2"/>
          </p:nvPr>
        </p:nvSpPr>
        <p:spPr>
          <a:xfrm>
            <a:off x="790000" y="450001"/>
            <a:ext cx="6837808" cy="27699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chemeClr val="lt1"/>
              </a:buClr>
              <a:buSzPts val="1799"/>
              <a:buFont typeface="Arial"/>
              <a:buNone/>
              <a:defRPr sz="1799" b="0" i="0" u="none" strike="noStrike" cap="none">
                <a:solidFill>
                  <a:schemeClr val="lt1"/>
                </a:solidFill>
                <a:latin typeface="Arial"/>
                <a:ea typeface="Arial"/>
                <a:cs typeface="Arial"/>
                <a:sym typeface="Arial"/>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Arial"/>
                <a:ea typeface="Arial"/>
                <a:cs typeface="Arial"/>
                <a:sym typeface="Arial"/>
              </a:defRPr>
            </a:lvl2pPr>
            <a:lvl3pPr marL="1371600" marR="0" lvl="2" indent="-355536" algn="l" rtl="0">
              <a:lnSpc>
                <a:spcPct val="90000"/>
              </a:lnSpc>
              <a:spcBef>
                <a:spcPts val="500"/>
              </a:spcBef>
              <a:spcAft>
                <a:spcPts val="0"/>
              </a:spcAft>
              <a:buClr>
                <a:schemeClr val="dk1"/>
              </a:buClr>
              <a:buSzPts val="1999"/>
              <a:buFont typeface="Arial"/>
              <a:buChar char="•"/>
              <a:defRPr sz="1999" b="0" i="0" u="none" strike="noStrike" cap="none">
                <a:solidFill>
                  <a:schemeClr val="dk1"/>
                </a:solidFill>
                <a:latin typeface="Arial"/>
                <a:ea typeface="Arial"/>
                <a:cs typeface="Arial"/>
                <a:sym typeface="Arial"/>
              </a:defRPr>
            </a:lvl3pPr>
            <a:lvl4pPr marL="1828800" marR="0" lvl="3"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4pPr>
            <a:lvl5pPr marL="2286000" marR="0" lvl="4"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5pPr>
            <a:lvl6pPr marL="2743200" marR="0" lvl="5"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6pPr>
            <a:lvl7pPr marL="3200400" marR="0" lvl="6"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7pPr>
            <a:lvl8pPr marL="3657600" marR="0" lvl="7"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8pPr>
            <a:lvl9pPr marL="4114800" marR="0" lvl="8"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9pPr>
          </a:lstStyle>
          <a:p>
            <a:endParaRPr/>
          </a:p>
        </p:txBody>
      </p:sp>
      <p:sp>
        <p:nvSpPr>
          <p:cNvPr id="31" name="Google Shape;31;p4"/>
          <p:cNvSpPr txBox="1">
            <a:spLocks noGrp="1"/>
          </p:cNvSpPr>
          <p:nvPr>
            <p:ph type="body" idx="3"/>
          </p:nvPr>
        </p:nvSpPr>
        <p:spPr>
          <a:xfrm>
            <a:off x="9112825" y="480779"/>
            <a:ext cx="340625" cy="246221"/>
          </a:xfrm>
          <a:prstGeom prst="rect">
            <a:avLst/>
          </a:prstGeom>
          <a:noFill/>
          <a:ln>
            <a:noFill/>
          </a:ln>
        </p:spPr>
        <p:txBody>
          <a:bodyPr spcFirstLastPara="1" wrap="square" lIns="0" tIns="0" rIns="0" bIns="0" anchor="t" anchorCtr="0">
            <a:spAutoFit/>
          </a:bodyPr>
          <a:lstStyle>
            <a:lvl1pPr marL="457200" marR="0" lvl="0" indent="-228600" algn="r" rtl="0">
              <a:lnSpc>
                <a:spcPct val="100000"/>
              </a:lnSpc>
              <a:spcBef>
                <a:spcPts val="0"/>
              </a:spcBef>
              <a:spcAft>
                <a:spcPts val="0"/>
              </a:spcAft>
              <a:buClr>
                <a:srgbClr val="D8D8D8"/>
              </a:buClr>
              <a:buSzPts val="1600"/>
              <a:buFont typeface="Arial"/>
              <a:buNone/>
              <a:defRPr sz="1600" b="0" i="0" u="none" strike="noStrike" cap="none">
                <a:solidFill>
                  <a:srgbClr val="D8D8D8"/>
                </a:solidFill>
                <a:latin typeface="Arial"/>
                <a:ea typeface="Arial"/>
                <a:cs typeface="Arial"/>
                <a:sym typeface="Arial"/>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Arial"/>
                <a:ea typeface="Arial"/>
                <a:cs typeface="Arial"/>
                <a:sym typeface="Arial"/>
              </a:defRPr>
            </a:lvl2pPr>
            <a:lvl3pPr marL="1371600" marR="0" lvl="2" indent="-355536" algn="l" rtl="0">
              <a:lnSpc>
                <a:spcPct val="90000"/>
              </a:lnSpc>
              <a:spcBef>
                <a:spcPts val="500"/>
              </a:spcBef>
              <a:spcAft>
                <a:spcPts val="0"/>
              </a:spcAft>
              <a:buClr>
                <a:schemeClr val="dk1"/>
              </a:buClr>
              <a:buSzPts val="1999"/>
              <a:buFont typeface="Arial"/>
              <a:buChar char="•"/>
              <a:defRPr sz="1999" b="0" i="0" u="none" strike="noStrike" cap="none">
                <a:solidFill>
                  <a:schemeClr val="dk1"/>
                </a:solidFill>
                <a:latin typeface="Arial"/>
                <a:ea typeface="Arial"/>
                <a:cs typeface="Arial"/>
                <a:sym typeface="Arial"/>
              </a:defRPr>
            </a:lvl3pPr>
            <a:lvl4pPr marL="1828800" marR="0" lvl="3"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4pPr>
            <a:lvl5pPr marL="2286000" marR="0" lvl="4"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5pPr>
            <a:lvl6pPr marL="2743200" marR="0" lvl="5"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6pPr>
            <a:lvl7pPr marL="3200400" marR="0" lvl="6"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7pPr>
            <a:lvl8pPr marL="3657600" marR="0" lvl="7"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8pPr>
            <a:lvl9pPr marL="4114800" marR="0" lvl="8"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9pPr>
          </a:lstStyle>
          <a:p>
            <a:endParaRPr/>
          </a:p>
        </p:txBody>
      </p:sp>
      <p:sp>
        <p:nvSpPr>
          <p:cNvPr id="32" name="Google Shape;32;p4"/>
          <p:cNvSpPr txBox="1">
            <a:spLocks noGrp="1"/>
          </p:cNvSpPr>
          <p:nvPr>
            <p:ph type="body" idx="4"/>
          </p:nvPr>
        </p:nvSpPr>
        <p:spPr>
          <a:xfrm>
            <a:off x="8740667" y="480779"/>
            <a:ext cx="467850" cy="246221"/>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D8D8D8"/>
              </a:buClr>
              <a:buSzPts val="1600"/>
              <a:buFont typeface="Arial"/>
              <a:buNone/>
              <a:defRPr sz="1600" b="0" i="0" u="none" strike="noStrike" cap="none">
                <a:solidFill>
                  <a:srgbClr val="D8D8D8"/>
                </a:solidFill>
                <a:latin typeface="Arial"/>
                <a:ea typeface="Arial"/>
                <a:cs typeface="Arial"/>
                <a:sym typeface="Arial"/>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Arial"/>
                <a:ea typeface="Arial"/>
                <a:cs typeface="Arial"/>
                <a:sym typeface="Arial"/>
              </a:defRPr>
            </a:lvl2pPr>
            <a:lvl3pPr marL="1371600" marR="0" lvl="2" indent="-355536" algn="l" rtl="0">
              <a:lnSpc>
                <a:spcPct val="90000"/>
              </a:lnSpc>
              <a:spcBef>
                <a:spcPts val="500"/>
              </a:spcBef>
              <a:spcAft>
                <a:spcPts val="0"/>
              </a:spcAft>
              <a:buClr>
                <a:schemeClr val="dk1"/>
              </a:buClr>
              <a:buSzPts val="1999"/>
              <a:buFont typeface="Arial"/>
              <a:buChar char="•"/>
              <a:defRPr sz="1999" b="0" i="0" u="none" strike="noStrike" cap="none">
                <a:solidFill>
                  <a:schemeClr val="dk1"/>
                </a:solidFill>
                <a:latin typeface="Arial"/>
                <a:ea typeface="Arial"/>
                <a:cs typeface="Arial"/>
                <a:sym typeface="Arial"/>
              </a:defRPr>
            </a:lvl3pPr>
            <a:lvl4pPr marL="1828800" marR="0" lvl="3"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4pPr>
            <a:lvl5pPr marL="2286000" marR="0" lvl="4"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5pPr>
            <a:lvl6pPr marL="2743200" marR="0" lvl="5"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6pPr>
            <a:lvl7pPr marL="3200400" marR="0" lvl="6"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7pPr>
            <a:lvl8pPr marL="3657600" marR="0" lvl="7"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8pPr>
            <a:lvl9pPr marL="4114800" marR="0" lvl="8"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9pPr>
          </a:lstStyle>
          <a:p>
            <a:endParaRPr/>
          </a:p>
        </p:txBody>
      </p:sp>
      <p:sp>
        <p:nvSpPr>
          <p:cNvPr id="33" name="Google Shape;33;p4"/>
          <p:cNvSpPr txBox="1">
            <a:spLocks noGrp="1"/>
          </p:cNvSpPr>
          <p:nvPr>
            <p:ph type="body" idx="5"/>
          </p:nvPr>
        </p:nvSpPr>
        <p:spPr>
          <a:xfrm>
            <a:off x="522288" y="2221661"/>
            <a:ext cx="8055439" cy="914400"/>
          </a:xfrm>
          <a:prstGeom prst="rect">
            <a:avLst/>
          </a:prstGeom>
          <a:noFill/>
          <a:ln>
            <a:noFill/>
          </a:ln>
        </p:spPr>
        <p:txBody>
          <a:bodyPr spcFirstLastPara="1" wrap="square" lIns="0" tIns="0" rIns="0" bIns="0" anchor="t" anchorCtr="0">
            <a:noAutofit/>
          </a:bodyPr>
          <a:lstStyle>
            <a:lvl1pPr marL="457200" marR="0" lvl="0" indent="-321945" algn="l" rtl="0">
              <a:lnSpc>
                <a:spcPct val="128571"/>
              </a:lnSpc>
              <a:spcBef>
                <a:spcPts val="1000"/>
              </a:spcBef>
              <a:spcAft>
                <a:spcPts val="0"/>
              </a:spcAft>
              <a:buClr>
                <a:srgbClr val="262626"/>
              </a:buClr>
              <a:buSzPts val="1470"/>
              <a:buFont typeface="Arial"/>
              <a:buChar char="•"/>
              <a:defRPr sz="1400" b="0" i="0" u="none" strike="noStrike" cap="none">
                <a:solidFill>
                  <a:srgbClr val="262626"/>
                </a:solidFill>
                <a:latin typeface="Arial"/>
                <a:ea typeface="Arial"/>
                <a:cs typeface="Arial"/>
                <a:sym typeface="Arial"/>
              </a:defRPr>
            </a:lvl1pPr>
            <a:lvl2pPr marL="914400" marR="0" lvl="1" indent="-294640" algn="l" rtl="0">
              <a:lnSpc>
                <a:spcPct val="138461"/>
              </a:lnSpc>
              <a:spcBef>
                <a:spcPts val="500"/>
              </a:spcBef>
              <a:spcAft>
                <a:spcPts val="0"/>
              </a:spcAft>
              <a:buClr>
                <a:srgbClr val="262626"/>
              </a:buClr>
              <a:buSzPts val="1040"/>
              <a:buFont typeface="Arial"/>
              <a:buChar char="•"/>
              <a:defRPr sz="1300" b="0" i="0" u="none" strike="noStrike" cap="none">
                <a:solidFill>
                  <a:srgbClr val="262626"/>
                </a:solidFill>
                <a:latin typeface="Arial"/>
                <a:ea typeface="Arial"/>
                <a:cs typeface="Arial"/>
                <a:sym typeface="Arial"/>
              </a:defRPr>
            </a:lvl2pPr>
            <a:lvl3pPr marL="1371600" marR="0" lvl="2" indent="-355536" algn="l" rtl="0">
              <a:lnSpc>
                <a:spcPct val="90000"/>
              </a:lnSpc>
              <a:spcBef>
                <a:spcPts val="500"/>
              </a:spcBef>
              <a:spcAft>
                <a:spcPts val="0"/>
              </a:spcAft>
              <a:buClr>
                <a:schemeClr val="dk1"/>
              </a:buClr>
              <a:buSzPts val="1999"/>
              <a:buFont typeface="Arial"/>
              <a:buChar char="•"/>
              <a:defRPr sz="1999" b="0" i="0" u="none" strike="noStrike" cap="none">
                <a:solidFill>
                  <a:schemeClr val="dk1"/>
                </a:solidFill>
                <a:latin typeface="Arial"/>
                <a:ea typeface="Arial"/>
                <a:cs typeface="Arial"/>
                <a:sym typeface="Arial"/>
              </a:defRPr>
            </a:lvl3pPr>
            <a:lvl4pPr marL="1828800" marR="0" lvl="3"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4pPr>
            <a:lvl5pPr marL="2286000" marR="0" lvl="4"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5pPr>
            <a:lvl6pPr marL="2743200" marR="0" lvl="5"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6pPr>
            <a:lvl7pPr marL="3200400" marR="0" lvl="6"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7pPr>
            <a:lvl8pPr marL="3657600" marR="0" lvl="7"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8pPr>
            <a:lvl9pPr marL="4114800" marR="0" lvl="8"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9pPr>
          </a:lstStyle>
          <a:p>
            <a:endParaRPr/>
          </a:p>
        </p:txBody>
      </p:sp>
      <p:sp>
        <p:nvSpPr>
          <p:cNvPr id="34" name="Google Shape;34;p4"/>
          <p:cNvSpPr txBox="1"/>
          <p:nvPr/>
        </p:nvSpPr>
        <p:spPr>
          <a:xfrm>
            <a:off x="6846858" y="6498001"/>
            <a:ext cx="2349501"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900">
                <a:solidFill>
                  <a:srgbClr val="7F7F7F"/>
                </a:solidFill>
                <a:latin typeface="Arial"/>
                <a:ea typeface="Arial"/>
                <a:cs typeface="Arial"/>
                <a:sym typeface="Arial"/>
              </a:rPr>
              <a:t>Project Name</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902">
          <p15:clr>
            <a:srgbClr val="FBAE40"/>
          </p15:clr>
        </p15:guide>
        <p15:guide id="2" pos="285">
          <p15:clr>
            <a:srgbClr val="FBAE40"/>
          </p15:clr>
        </p15:guide>
        <p15:guide id="3" pos="5955">
          <p15:clr>
            <a:srgbClr val="FBAE40"/>
          </p15:clr>
        </p15:guide>
        <p15:guide id="4" pos="32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st" type="blank">
  <p:cSld name="BLANK">
    <p:spTree>
      <p:nvGrpSpPr>
        <p:cNvPr id="1" name="Shape 35"/>
        <p:cNvGrpSpPr/>
        <p:nvPr/>
      </p:nvGrpSpPr>
      <p:grpSpPr>
        <a:xfrm>
          <a:off x="0" y="0"/>
          <a:ext cx="0" cy="0"/>
          <a:chOff x="0" y="0"/>
          <a:chExt cx="0" cy="0"/>
        </a:xfrm>
      </p:grpSpPr>
      <p:pic>
        <p:nvPicPr>
          <p:cNvPr id="36" name="Google Shape;36;p5"/>
          <p:cNvPicPr preferRelativeResize="0"/>
          <p:nvPr/>
        </p:nvPicPr>
        <p:blipFill rotWithShape="1">
          <a:blip r:embed="rId2">
            <a:alphaModFix/>
          </a:blip>
          <a:srcRect/>
          <a:stretch/>
        </p:blipFill>
        <p:spPr>
          <a:xfrm>
            <a:off x="2" y="4395"/>
            <a:ext cx="9899651" cy="6853605"/>
          </a:xfrm>
          <a:prstGeom prst="rect">
            <a:avLst/>
          </a:prstGeom>
          <a:noFill/>
          <a:ln>
            <a:noFill/>
          </a:ln>
        </p:spPr>
      </p:pic>
      <p:sp>
        <p:nvSpPr>
          <p:cNvPr id="37" name="Google Shape;37;p5"/>
          <p:cNvSpPr/>
          <p:nvPr/>
        </p:nvSpPr>
        <p:spPr>
          <a:xfrm>
            <a:off x="2" y="0"/>
            <a:ext cx="9899651" cy="6858000"/>
          </a:xfrm>
          <a:prstGeom prst="rect">
            <a:avLst/>
          </a:prstGeom>
          <a:solidFill>
            <a:srgbClr val="1428A0">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59">
              <a:solidFill>
                <a:schemeClr val="lt1"/>
              </a:solidFill>
              <a:latin typeface="Arial"/>
              <a:ea typeface="Arial"/>
              <a:cs typeface="Arial"/>
              <a:sym typeface="Arial"/>
            </a:endParaRPr>
          </a:p>
        </p:txBody>
      </p:sp>
      <p:sp>
        <p:nvSpPr>
          <p:cNvPr id="38" name="Google Shape;38;p5"/>
          <p:cNvSpPr/>
          <p:nvPr/>
        </p:nvSpPr>
        <p:spPr>
          <a:xfrm>
            <a:off x="449468" y="5677032"/>
            <a:ext cx="9000714" cy="73096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1000"/>
              <a:buFont typeface="Arial"/>
              <a:buNone/>
            </a:pPr>
            <a:r>
              <a:rPr lang="en-US" sz="1000" b="0" i="0" u="none" strike="noStrike" cap="none">
                <a:solidFill>
                  <a:srgbClr val="FFFFFF"/>
                </a:solidFill>
                <a:latin typeface="Arial"/>
                <a:ea typeface="Arial"/>
                <a:cs typeface="Arial"/>
                <a:sym typeface="Arial"/>
              </a:rPr>
              <a:t>ⓒ2023 SAMSUNG. All rights reserved.</a:t>
            </a:r>
            <a:endParaRPr/>
          </a:p>
          <a:p>
            <a:pPr marL="0" marR="0" lvl="0" indent="0" algn="l" rtl="0">
              <a:lnSpc>
                <a:spcPct val="100000"/>
              </a:lnSpc>
              <a:spcBef>
                <a:spcPts val="600"/>
              </a:spcBef>
              <a:spcAft>
                <a:spcPts val="0"/>
              </a:spcAft>
              <a:buClr>
                <a:srgbClr val="FFFFFF"/>
              </a:buClr>
              <a:buSzPts val="1000"/>
              <a:buFont typeface="Arial"/>
              <a:buNone/>
            </a:pPr>
            <a:r>
              <a:rPr lang="en-US" sz="1000" b="0" i="0" u="none" strike="noStrike" cap="none">
                <a:solidFill>
                  <a:srgbClr val="FFFFFF"/>
                </a:solidFill>
                <a:latin typeface="Arial"/>
                <a:ea typeface="Arial"/>
                <a:cs typeface="Arial"/>
                <a:sym typeface="Arial"/>
              </a:rPr>
              <a:t>Samsung Electronics Corporate Citizenship Office holds the copyright of book.</a:t>
            </a:r>
            <a:endParaRPr/>
          </a:p>
          <a:p>
            <a:pPr marL="0" marR="0" lvl="0" indent="0" algn="l" rtl="0">
              <a:lnSpc>
                <a:spcPct val="100000"/>
              </a:lnSpc>
              <a:spcBef>
                <a:spcPts val="300"/>
              </a:spcBef>
              <a:spcAft>
                <a:spcPts val="0"/>
              </a:spcAft>
              <a:buClr>
                <a:srgbClr val="FFFFFF"/>
              </a:buClr>
              <a:buSzPts val="1000"/>
              <a:buFont typeface="Arial"/>
              <a:buNone/>
            </a:pPr>
            <a:r>
              <a:rPr lang="en-US" sz="1000" b="0" i="0" u="none" strike="noStrike" cap="none">
                <a:solidFill>
                  <a:srgbClr val="FFFFFF"/>
                </a:solidFill>
                <a:latin typeface="Arial"/>
                <a:ea typeface="Arial"/>
                <a:cs typeface="Arial"/>
                <a:sym typeface="Arial"/>
              </a:rPr>
              <a:t>This book is a literary property protected by copyright law so reprint and reproduction without permission are prohibited. </a:t>
            </a:r>
            <a:endParaRPr/>
          </a:p>
          <a:p>
            <a:pPr marL="0" marR="0" lvl="0" indent="0" algn="l" rtl="0">
              <a:lnSpc>
                <a:spcPct val="100000"/>
              </a:lnSpc>
              <a:spcBef>
                <a:spcPts val="0"/>
              </a:spcBef>
              <a:spcAft>
                <a:spcPts val="0"/>
              </a:spcAft>
              <a:buClr>
                <a:srgbClr val="FFFFFF"/>
              </a:buClr>
              <a:buSzPts val="1000"/>
              <a:buFont typeface="Arial"/>
              <a:buNone/>
            </a:pPr>
            <a:r>
              <a:rPr lang="en-US" sz="1000" b="0" i="0" u="none" strike="noStrike" cap="none">
                <a:solidFill>
                  <a:srgbClr val="FFFFFF"/>
                </a:solidFill>
                <a:latin typeface="Arial"/>
                <a:ea typeface="Arial"/>
                <a:cs typeface="Arial"/>
                <a:sym typeface="Arial"/>
              </a:rPr>
              <a:t>To use this book other than the curriculum of Samsung Innovation Campus or to use the entire or part of this book, you must receive written consent from copyright holder.</a:t>
            </a:r>
            <a:endParaRPr/>
          </a:p>
        </p:txBody>
      </p:sp>
      <p:pic>
        <p:nvPicPr>
          <p:cNvPr id="39" name="Google Shape;39;p5"/>
          <p:cNvPicPr preferRelativeResize="0"/>
          <p:nvPr/>
        </p:nvPicPr>
        <p:blipFill rotWithShape="1">
          <a:blip r:embed="rId3">
            <a:alphaModFix/>
          </a:blip>
          <a:srcRect/>
          <a:stretch/>
        </p:blipFill>
        <p:spPr>
          <a:xfrm>
            <a:off x="3711822" y="3022951"/>
            <a:ext cx="2476006" cy="812098"/>
          </a:xfrm>
          <a:prstGeom prst="rect">
            <a:avLst/>
          </a:prstGeom>
          <a:noFill/>
          <a:ln>
            <a:noFill/>
          </a:ln>
        </p:spPr>
      </p:pic>
      <p:sp>
        <p:nvSpPr>
          <p:cNvPr id="40" name="Google Shape;40;p5"/>
          <p:cNvSpPr/>
          <p:nvPr/>
        </p:nvSpPr>
        <p:spPr>
          <a:xfrm>
            <a:off x="449468" y="450000"/>
            <a:ext cx="1290568" cy="198000"/>
          </a:xfrm>
          <a:custGeom>
            <a:avLst/>
            <a:gdLst/>
            <a:ahLst/>
            <a:cxnLst/>
            <a:rect l="l" t="t" r="r" b="b"/>
            <a:pathLst>
              <a:path w="2179" h="334" extrusionOk="0">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lt1"/>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chemeClr val="dk1"/>
              </a:buClr>
              <a:buSzPts val="1959"/>
              <a:buFont typeface="Arial"/>
              <a:buNone/>
            </a:pPr>
            <a:endParaRPr sz="1959">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41"/>
        <p:cNvGrpSpPr/>
        <p:nvPr/>
      </p:nvGrpSpPr>
      <p:grpSpPr>
        <a:xfrm>
          <a:off x="0" y="0"/>
          <a:ext cx="0" cy="0"/>
          <a:chOff x="0" y="0"/>
          <a:chExt cx="0" cy="0"/>
        </a:xfrm>
      </p:grpSpPr>
      <p:cxnSp>
        <p:nvCxnSpPr>
          <p:cNvPr id="42" name="Google Shape;42;p6"/>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43" name="Google Shape;43;p6"/>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44" name="Google Shape;44;p6"/>
          <p:cNvSpPr/>
          <p:nvPr/>
        </p:nvSpPr>
        <p:spPr>
          <a:xfrm>
            <a:off x="449468" y="6498001"/>
            <a:ext cx="2888788" cy="169277"/>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0">
                <a:solidFill>
                  <a:srgbClr val="7F7F7F"/>
                </a:solidFill>
                <a:latin typeface="Arial"/>
                <a:ea typeface="Arial"/>
                <a:cs typeface="Arial"/>
                <a:sym typeface="Arial"/>
              </a:rPr>
              <a:t>Samsung Innovation Campus</a:t>
            </a:r>
            <a:endParaRPr/>
          </a:p>
        </p:txBody>
      </p:sp>
      <p:sp>
        <p:nvSpPr>
          <p:cNvPr id="45" name="Google Shape;45;p6"/>
          <p:cNvSpPr txBox="1"/>
          <p:nvPr/>
        </p:nvSpPr>
        <p:spPr>
          <a:xfrm>
            <a:off x="6846858" y="6498001"/>
            <a:ext cx="2349501"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900">
                <a:solidFill>
                  <a:srgbClr val="7F7F7F"/>
                </a:solidFill>
                <a:latin typeface="Arial"/>
                <a:ea typeface="Arial"/>
                <a:cs typeface="Arial"/>
                <a:sym typeface="Arial"/>
              </a:rPr>
              <a:t>Project Name</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pos="285">
          <p15:clr>
            <a:srgbClr val="FBAE40"/>
          </p15:clr>
        </p15:guide>
        <p15:guide id="2" pos="595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Table of Contents2">
  <p:cSld name="2_Table of Contents2">
    <p:spTree>
      <p:nvGrpSpPr>
        <p:cNvPr id="1" name="Shape 46"/>
        <p:cNvGrpSpPr/>
        <p:nvPr/>
      </p:nvGrpSpPr>
      <p:grpSpPr>
        <a:xfrm>
          <a:off x="0" y="0"/>
          <a:ext cx="0" cy="0"/>
          <a:chOff x="0" y="0"/>
          <a:chExt cx="0" cy="0"/>
        </a:xfrm>
      </p:grpSpPr>
      <p:pic>
        <p:nvPicPr>
          <p:cNvPr id="47" name="Google Shape;47;p7"/>
          <p:cNvPicPr preferRelativeResize="0"/>
          <p:nvPr/>
        </p:nvPicPr>
        <p:blipFill rotWithShape="1">
          <a:blip r:embed="rId2">
            <a:alphaModFix/>
          </a:blip>
          <a:srcRect/>
          <a:stretch/>
        </p:blipFill>
        <p:spPr>
          <a:xfrm>
            <a:off x="-1588" y="0"/>
            <a:ext cx="9902825" cy="6858000"/>
          </a:xfrm>
          <a:prstGeom prst="rect">
            <a:avLst/>
          </a:prstGeom>
          <a:noFill/>
          <a:ln>
            <a:noFill/>
          </a:ln>
        </p:spPr>
      </p:pic>
      <p:cxnSp>
        <p:nvCxnSpPr>
          <p:cNvPr id="48" name="Google Shape;48;p7"/>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7"/>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50" name="Google Shape;50;p7"/>
          <p:cNvSpPr/>
          <p:nvPr/>
        </p:nvSpPr>
        <p:spPr>
          <a:xfrm>
            <a:off x="449468" y="6498001"/>
            <a:ext cx="2888788" cy="169277"/>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0">
                <a:solidFill>
                  <a:srgbClr val="7F7F7F"/>
                </a:solidFill>
                <a:latin typeface="Arial"/>
                <a:ea typeface="Arial"/>
                <a:cs typeface="Arial"/>
                <a:sym typeface="Arial"/>
              </a:rPr>
              <a:t>Samsung Innovation Campus</a:t>
            </a:r>
            <a:endParaRPr/>
          </a:p>
        </p:txBody>
      </p:sp>
      <p:sp>
        <p:nvSpPr>
          <p:cNvPr id="51" name="Google Shape;51;p7"/>
          <p:cNvSpPr/>
          <p:nvPr/>
        </p:nvSpPr>
        <p:spPr>
          <a:xfrm>
            <a:off x="990000" y="4157757"/>
            <a:ext cx="3563339" cy="323165"/>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100">
                <a:solidFill>
                  <a:srgbClr val="1428A0"/>
                </a:solidFill>
                <a:latin typeface="Arial"/>
                <a:ea typeface="Arial"/>
                <a:cs typeface="Arial"/>
                <a:sym typeface="Arial"/>
              </a:rPr>
              <a:t>AI Course</a:t>
            </a:r>
            <a:endParaRPr sz="2100">
              <a:solidFill>
                <a:srgbClr val="1428A0"/>
              </a:solidFill>
              <a:latin typeface="Arial"/>
              <a:ea typeface="Arial"/>
              <a:cs typeface="Arial"/>
              <a:sym typeface="Arial"/>
            </a:endParaRPr>
          </a:p>
        </p:txBody>
      </p:sp>
      <p:sp>
        <p:nvSpPr>
          <p:cNvPr id="52" name="Google Shape;52;p7"/>
          <p:cNvSpPr/>
          <p:nvPr/>
        </p:nvSpPr>
        <p:spPr>
          <a:xfrm>
            <a:off x="720000" y="2095275"/>
            <a:ext cx="60008" cy="1759369"/>
          </a:xfrm>
          <a:prstGeom prst="rect">
            <a:avLst/>
          </a:prstGeom>
          <a:solidFill>
            <a:srgbClr val="1428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53" name="Google Shape;53;p7"/>
          <p:cNvSpPr/>
          <p:nvPr/>
        </p:nvSpPr>
        <p:spPr>
          <a:xfrm>
            <a:off x="720000" y="4157757"/>
            <a:ext cx="60008" cy="323165"/>
          </a:xfrm>
          <a:prstGeom prst="rect">
            <a:avLst/>
          </a:prstGeom>
          <a:solidFill>
            <a:srgbClr val="1428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54" name="Google Shape;54;p7"/>
          <p:cNvSpPr txBox="1">
            <a:spLocks noGrp="1"/>
          </p:cNvSpPr>
          <p:nvPr>
            <p:ph type="title"/>
          </p:nvPr>
        </p:nvSpPr>
        <p:spPr>
          <a:xfrm>
            <a:off x="990000" y="2095275"/>
            <a:ext cx="5221019" cy="1354217"/>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solidFill>
                  <a:schemeClr val="lt1"/>
                </a:solidFill>
                <a:latin typeface="Arial"/>
                <a:ea typeface="Arial"/>
                <a:cs typeface="Arial"/>
                <a:sym typeface="Arial"/>
              </a:defRPr>
            </a:lvl2pPr>
            <a:lvl3pPr lvl="2">
              <a:spcBef>
                <a:spcPts val="0"/>
              </a:spcBef>
              <a:spcAft>
                <a:spcPts val="0"/>
              </a:spcAft>
              <a:buSzPts val="1400"/>
              <a:buNone/>
              <a:defRPr sz="1800">
                <a:solidFill>
                  <a:schemeClr val="lt1"/>
                </a:solidFill>
                <a:latin typeface="Arial"/>
                <a:ea typeface="Arial"/>
                <a:cs typeface="Arial"/>
                <a:sym typeface="Arial"/>
              </a:defRPr>
            </a:lvl3pPr>
            <a:lvl4pPr lvl="3">
              <a:spcBef>
                <a:spcPts val="0"/>
              </a:spcBef>
              <a:spcAft>
                <a:spcPts val="0"/>
              </a:spcAft>
              <a:buSzPts val="1400"/>
              <a:buNone/>
              <a:defRPr sz="1800">
                <a:solidFill>
                  <a:schemeClr val="lt1"/>
                </a:solidFill>
                <a:latin typeface="Arial"/>
                <a:ea typeface="Arial"/>
                <a:cs typeface="Arial"/>
                <a:sym typeface="Arial"/>
              </a:defRPr>
            </a:lvl4pPr>
            <a:lvl5pPr lvl="4">
              <a:spcBef>
                <a:spcPts val="0"/>
              </a:spcBef>
              <a:spcAft>
                <a:spcPts val="0"/>
              </a:spcAft>
              <a:buSzPts val="1400"/>
              <a:buNone/>
              <a:defRPr sz="1800">
                <a:solidFill>
                  <a:schemeClr val="lt1"/>
                </a:solidFill>
                <a:latin typeface="Arial"/>
                <a:ea typeface="Arial"/>
                <a:cs typeface="Arial"/>
                <a:sym typeface="Arial"/>
              </a:defRPr>
            </a:lvl5pPr>
            <a:lvl6pPr lvl="5">
              <a:spcBef>
                <a:spcPts val="0"/>
              </a:spcBef>
              <a:spcAft>
                <a:spcPts val="0"/>
              </a:spcAft>
              <a:buSzPts val="1400"/>
              <a:buNone/>
              <a:defRPr sz="1800">
                <a:solidFill>
                  <a:schemeClr val="lt1"/>
                </a:solidFill>
                <a:latin typeface="Arial"/>
                <a:ea typeface="Arial"/>
                <a:cs typeface="Arial"/>
                <a:sym typeface="Arial"/>
              </a:defRPr>
            </a:lvl6pPr>
            <a:lvl7pPr lvl="6">
              <a:spcBef>
                <a:spcPts val="0"/>
              </a:spcBef>
              <a:spcAft>
                <a:spcPts val="0"/>
              </a:spcAft>
              <a:buSzPts val="1400"/>
              <a:buNone/>
              <a:defRPr sz="1800">
                <a:solidFill>
                  <a:schemeClr val="lt1"/>
                </a:solidFill>
                <a:latin typeface="Arial"/>
                <a:ea typeface="Arial"/>
                <a:cs typeface="Arial"/>
                <a:sym typeface="Arial"/>
              </a:defRPr>
            </a:lvl7pPr>
            <a:lvl8pPr lvl="7">
              <a:spcBef>
                <a:spcPts val="0"/>
              </a:spcBef>
              <a:spcAft>
                <a:spcPts val="0"/>
              </a:spcAft>
              <a:buSzPts val="1400"/>
              <a:buNone/>
              <a:defRPr sz="1800">
                <a:solidFill>
                  <a:schemeClr val="lt1"/>
                </a:solidFill>
                <a:latin typeface="Arial"/>
                <a:ea typeface="Arial"/>
                <a:cs typeface="Arial"/>
                <a:sym typeface="Arial"/>
              </a:defRPr>
            </a:lvl8pPr>
            <a:lvl9pPr lvl="8">
              <a:spcBef>
                <a:spcPts val="0"/>
              </a:spcBef>
              <a:spcAft>
                <a:spcPts val="0"/>
              </a:spcAft>
              <a:buSzPts val="1400"/>
              <a:buNone/>
              <a:defRPr sz="1800">
                <a:solidFill>
                  <a:schemeClr val="lt1"/>
                </a:solidFill>
                <a:latin typeface="Arial"/>
                <a:ea typeface="Arial"/>
                <a:cs typeface="Arial"/>
                <a:sym typeface="Arial"/>
              </a:defRPr>
            </a:lvl9pPr>
          </a:lstStyle>
          <a:p>
            <a:endParaRPr/>
          </a:p>
        </p:txBody>
      </p:sp>
      <p:sp>
        <p:nvSpPr>
          <p:cNvPr id="55" name="Google Shape;55;p7"/>
          <p:cNvSpPr txBox="1">
            <a:spLocks noGrp="1"/>
          </p:cNvSpPr>
          <p:nvPr>
            <p:ph type="body" idx="1"/>
          </p:nvPr>
        </p:nvSpPr>
        <p:spPr>
          <a:xfrm>
            <a:off x="990000" y="3577645"/>
            <a:ext cx="6837808" cy="27699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7F7F7F"/>
              </a:buClr>
              <a:buSzPts val="1800"/>
              <a:buFont typeface="Arial"/>
              <a:buNone/>
              <a:defRPr sz="1800" b="0" i="0" u="none" strike="noStrike" cap="none">
                <a:solidFill>
                  <a:srgbClr val="7F7F7F"/>
                </a:solidFill>
                <a:latin typeface="Arial"/>
                <a:ea typeface="Arial"/>
                <a:cs typeface="Arial"/>
                <a:sym typeface="Arial"/>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Arial"/>
                <a:ea typeface="Arial"/>
                <a:cs typeface="Arial"/>
                <a:sym typeface="Arial"/>
              </a:defRPr>
            </a:lvl2pPr>
            <a:lvl3pPr marL="1371600" marR="0" lvl="2" indent="-355536" algn="l" rtl="0">
              <a:lnSpc>
                <a:spcPct val="90000"/>
              </a:lnSpc>
              <a:spcBef>
                <a:spcPts val="500"/>
              </a:spcBef>
              <a:spcAft>
                <a:spcPts val="0"/>
              </a:spcAft>
              <a:buClr>
                <a:schemeClr val="dk1"/>
              </a:buClr>
              <a:buSzPts val="1999"/>
              <a:buFont typeface="Arial"/>
              <a:buChar char="•"/>
              <a:defRPr sz="1999" b="0" i="0" u="none" strike="noStrike" cap="none">
                <a:solidFill>
                  <a:schemeClr val="dk1"/>
                </a:solidFill>
                <a:latin typeface="Arial"/>
                <a:ea typeface="Arial"/>
                <a:cs typeface="Arial"/>
                <a:sym typeface="Arial"/>
              </a:defRPr>
            </a:lvl3pPr>
            <a:lvl4pPr marL="1828800" marR="0" lvl="3"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4pPr>
            <a:lvl5pPr marL="2286000" marR="0" lvl="4"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5pPr>
            <a:lvl6pPr marL="2743200" marR="0" lvl="5"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6pPr>
            <a:lvl7pPr marL="3200400" marR="0" lvl="6"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7pPr>
            <a:lvl8pPr marL="3657600" marR="0" lvl="7"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8pPr>
            <a:lvl9pPr marL="4114800" marR="0" lvl="8"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614">
          <p15:clr>
            <a:srgbClr val="FBAE40"/>
          </p15:clr>
        </p15:guide>
        <p15:guide id="2" pos="443">
          <p15:clr>
            <a:srgbClr val="FBAE40"/>
          </p15:clr>
        </p15:guide>
        <p15:guide id="3" pos="5955">
          <p15:clr>
            <a:srgbClr val="FBAE40"/>
          </p15:clr>
        </p15:guide>
        <p15:guide id="4" pos="60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_Table of Contents">
  <p:cSld name="3_Table of Contents">
    <p:spTree>
      <p:nvGrpSpPr>
        <p:cNvPr id="1" name="Shape 56"/>
        <p:cNvGrpSpPr/>
        <p:nvPr/>
      </p:nvGrpSpPr>
      <p:grpSpPr>
        <a:xfrm>
          <a:off x="0" y="0"/>
          <a:ext cx="0" cy="0"/>
          <a:chOff x="0" y="0"/>
          <a:chExt cx="0" cy="0"/>
        </a:xfrm>
      </p:grpSpPr>
      <p:pic>
        <p:nvPicPr>
          <p:cNvPr id="57" name="Google Shape;57;p8"/>
          <p:cNvPicPr preferRelativeResize="0"/>
          <p:nvPr/>
        </p:nvPicPr>
        <p:blipFill rotWithShape="1">
          <a:blip r:embed="rId2">
            <a:alphaModFix/>
          </a:blip>
          <a:srcRect/>
          <a:stretch/>
        </p:blipFill>
        <p:spPr>
          <a:xfrm>
            <a:off x="0" y="0"/>
            <a:ext cx="9902825" cy="6858000"/>
          </a:xfrm>
          <a:prstGeom prst="rect">
            <a:avLst/>
          </a:prstGeom>
          <a:noFill/>
          <a:ln>
            <a:noFill/>
          </a:ln>
        </p:spPr>
      </p:pic>
      <p:cxnSp>
        <p:nvCxnSpPr>
          <p:cNvPr id="58" name="Google Shape;58;p8"/>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59" name="Google Shape;59;p8"/>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60" name="Google Shape;60;p8"/>
          <p:cNvSpPr/>
          <p:nvPr/>
        </p:nvSpPr>
        <p:spPr>
          <a:xfrm>
            <a:off x="449468" y="6498001"/>
            <a:ext cx="2888788" cy="169277"/>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0">
                <a:solidFill>
                  <a:srgbClr val="7F7F7F"/>
                </a:solidFill>
                <a:latin typeface="Arial"/>
                <a:ea typeface="Arial"/>
                <a:cs typeface="Arial"/>
                <a:sym typeface="Arial"/>
              </a:rPr>
              <a:t>Samsung Innovation Campus</a:t>
            </a:r>
            <a:endParaRPr/>
          </a:p>
        </p:txBody>
      </p:sp>
      <p:sp>
        <p:nvSpPr>
          <p:cNvPr id="61" name="Google Shape;61;p8"/>
          <p:cNvSpPr txBox="1"/>
          <p:nvPr/>
        </p:nvSpPr>
        <p:spPr>
          <a:xfrm>
            <a:off x="6846858" y="6498001"/>
            <a:ext cx="2349501"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900">
                <a:solidFill>
                  <a:srgbClr val="7F7F7F"/>
                </a:solidFill>
                <a:latin typeface="Arial"/>
                <a:ea typeface="Arial"/>
                <a:cs typeface="Arial"/>
                <a:sym typeface="Arial"/>
              </a:rPr>
              <a:t>Project Name</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902">
          <p15:clr>
            <a:srgbClr val="FBAE40"/>
          </p15:clr>
        </p15:guide>
        <p15:guide id="2" pos="285">
          <p15:clr>
            <a:srgbClr val="FBAE40"/>
          </p15:clr>
        </p15:guide>
        <p15:guide id="3" pos="5955">
          <p15:clr>
            <a:srgbClr val="FBAE40"/>
          </p15:clr>
        </p15:guide>
        <p15:guide id="4" pos="32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Table of Contents">
  <p:cSld name="1_Table of Contents">
    <p:spTree>
      <p:nvGrpSpPr>
        <p:cNvPr id="1" name="Shape 62"/>
        <p:cNvGrpSpPr/>
        <p:nvPr/>
      </p:nvGrpSpPr>
      <p:grpSpPr>
        <a:xfrm>
          <a:off x="0" y="0"/>
          <a:ext cx="0" cy="0"/>
          <a:chOff x="0" y="0"/>
          <a:chExt cx="0" cy="0"/>
        </a:xfrm>
      </p:grpSpPr>
      <p:pic>
        <p:nvPicPr>
          <p:cNvPr id="63" name="Google Shape;63;p9"/>
          <p:cNvPicPr preferRelativeResize="0"/>
          <p:nvPr/>
        </p:nvPicPr>
        <p:blipFill rotWithShape="1">
          <a:blip r:embed="rId2">
            <a:alphaModFix/>
          </a:blip>
          <a:srcRect/>
          <a:stretch/>
        </p:blipFill>
        <p:spPr>
          <a:xfrm>
            <a:off x="0" y="0"/>
            <a:ext cx="9902825" cy="6858000"/>
          </a:xfrm>
          <a:prstGeom prst="rect">
            <a:avLst/>
          </a:prstGeom>
          <a:noFill/>
          <a:ln>
            <a:noFill/>
          </a:ln>
        </p:spPr>
      </p:pic>
      <p:cxnSp>
        <p:nvCxnSpPr>
          <p:cNvPr id="64" name="Google Shape;64;p9"/>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65" name="Google Shape;65;p9"/>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66" name="Google Shape;66;p9"/>
          <p:cNvSpPr/>
          <p:nvPr/>
        </p:nvSpPr>
        <p:spPr>
          <a:xfrm>
            <a:off x="449468" y="6498001"/>
            <a:ext cx="2888788" cy="169277"/>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0">
                <a:solidFill>
                  <a:srgbClr val="7F7F7F"/>
                </a:solidFill>
                <a:latin typeface="Arial"/>
                <a:ea typeface="Arial"/>
                <a:cs typeface="Arial"/>
                <a:sym typeface="Arial"/>
              </a:rPr>
              <a:t>Samsung Innovation Campus</a:t>
            </a:r>
            <a:endParaRPr/>
          </a:p>
        </p:txBody>
      </p:sp>
      <p:sp>
        <p:nvSpPr>
          <p:cNvPr id="67" name="Google Shape;67;p9"/>
          <p:cNvSpPr txBox="1"/>
          <p:nvPr/>
        </p:nvSpPr>
        <p:spPr>
          <a:xfrm>
            <a:off x="6846858" y="6498001"/>
            <a:ext cx="2349501"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900">
                <a:solidFill>
                  <a:srgbClr val="7F7F7F"/>
                </a:solidFill>
                <a:latin typeface="Arial"/>
                <a:ea typeface="Arial"/>
                <a:cs typeface="Arial"/>
                <a:sym typeface="Arial"/>
              </a:rPr>
              <a:t>Project Name</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5955">
          <p15:clr>
            <a:srgbClr val="FBAE40"/>
          </p15:clr>
        </p15:guide>
        <p15:guide id="3" pos="28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ody">
  <p:cSld name="Body">
    <p:spTree>
      <p:nvGrpSpPr>
        <p:cNvPr id="1" name="Shape 68"/>
        <p:cNvGrpSpPr/>
        <p:nvPr/>
      </p:nvGrpSpPr>
      <p:grpSpPr>
        <a:xfrm>
          <a:off x="0" y="0"/>
          <a:ext cx="0" cy="0"/>
          <a:chOff x="0" y="0"/>
          <a:chExt cx="0" cy="0"/>
        </a:xfrm>
      </p:grpSpPr>
      <p:cxnSp>
        <p:nvCxnSpPr>
          <p:cNvPr id="69" name="Google Shape;69;p10"/>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70" name="Google Shape;70;p10"/>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71" name="Google Shape;71;p10"/>
          <p:cNvSpPr/>
          <p:nvPr/>
        </p:nvSpPr>
        <p:spPr>
          <a:xfrm>
            <a:off x="449468" y="6498001"/>
            <a:ext cx="2888788" cy="169277"/>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00" b="0">
                <a:solidFill>
                  <a:srgbClr val="7F7F7F"/>
                </a:solidFill>
                <a:latin typeface="Arial"/>
                <a:ea typeface="Arial"/>
                <a:cs typeface="Arial"/>
                <a:sym typeface="Arial"/>
              </a:rPr>
              <a:t>Samsung Innovation Campus</a:t>
            </a:r>
            <a:endParaRPr/>
          </a:p>
        </p:txBody>
      </p:sp>
      <p:cxnSp>
        <p:nvCxnSpPr>
          <p:cNvPr id="72" name="Google Shape;72;p10"/>
          <p:cNvCxnSpPr/>
          <p:nvPr/>
        </p:nvCxnSpPr>
        <p:spPr>
          <a:xfrm>
            <a:off x="449468" y="900000"/>
            <a:ext cx="9000714" cy="0"/>
          </a:xfrm>
          <a:prstGeom prst="straightConnector1">
            <a:avLst/>
          </a:prstGeom>
          <a:noFill/>
          <a:ln w="15875" cap="flat" cmpd="sng">
            <a:solidFill>
              <a:srgbClr val="0924A5"/>
            </a:solidFill>
            <a:prstDash val="solid"/>
            <a:miter lim="800000"/>
            <a:headEnd type="none" w="sm" len="sm"/>
            <a:tailEnd type="none" w="sm" len="sm"/>
          </a:ln>
        </p:spPr>
      </p:cxnSp>
      <p:sp>
        <p:nvSpPr>
          <p:cNvPr id="73" name="Google Shape;73;p10"/>
          <p:cNvSpPr txBox="1"/>
          <p:nvPr/>
        </p:nvSpPr>
        <p:spPr>
          <a:xfrm>
            <a:off x="6846858" y="6498001"/>
            <a:ext cx="2349501"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900">
                <a:solidFill>
                  <a:srgbClr val="7F7F7F"/>
                </a:solidFill>
                <a:latin typeface="Arial"/>
                <a:ea typeface="Arial"/>
                <a:cs typeface="Arial"/>
                <a:sym typeface="Arial"/>
              </a:rPr>
              <a:t>Project Name</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285">
          <p15:clr>
            <a:srgbClr val="FBAE40"/>
          </p15:clr>
        </p15:guide>
        <p15:guide id="3" pos="595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Body">
  <p:cSld name="1_Body">
    <p:bg>
      <p:bgPr>
        <a:solidFill>
          <a:srgbClr val="F2F2F2"/>
        </a:solidFill>
        <a:effectLst/>
      </p:bgPr>
    </p:bg>
    <p:spTree>
      <p:nvGrpSpPr>
        <p:cNvPr id="1" name="Shape 74"/>
        <p:cNvGrpSpPr/>
        <p:nvPr/>
      </p:nvGrpSpPr>
      <p:grpSpPr>
        <a:xfrm>
          <a:off x="0" y="0"/>
          <a:ext cx="0" cy="0"/>
          <a:chOff x="0" y="0"/>
          <a:chExt cx="0" cy="0"/>
        </a:xfrm>
      </p:grpSpPr>
      <p:pic>
        <p:nvPicPr>
          <p:cNvPr id="75" name="Google Shape;75;p11"/>
          <p:cNvPicPr preferRelativeResize="0"/>
          <p:nvPr/>
        </p:nvPicPr>
        <p:blipFill rotWithShape="1">
          <a:blip r:embed="rId2">
            <a:alphaModFix/>
          </a:blip>
          <a:srcRect/>
          <a:stretch/>
        </p:blipFill>
        <p:spPr>
          <a:xfrm>
            <a:off x="0" y="0"/>
            <a:ext cx="9902825" cy="6858000"/>
          </a:xfrm>
          <a:prstGeom prst="rect">
            <a:avLst/>
          </a:prstGeom>
          <a:noFill/>
          <a:ln>
            <a:noFill/>
          </a:ln>
        </p:spPr>
      </p:pic>
      <p:sp>
        <p:nvSpPr>
          <p:cNvPr id="76" name="Google Shape;76;p11"/>
          <p:cNvSpPr/>
          <p:nvPr/>
        </p:nvSpPr>
        <p:spPr>
          <a:xfrm>
            <a:off x="449468" y="450000"/>
            <a:ext cx="1282022" cy="198000"/>
          </a:xfrm>
          <a:custGeom>
            <a:avLst/>
            <a:gdLst/>
            <a:ahLst/>
            <a:cxnLst/>
            <a:rect l="l" t="t" r="r" b="b"/>
            <a:pathLst>
              <a:path w="2179" h="334" extrusionOk="0">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chemeClr val="dk1"/>
              </a:buClr>
              <a:buSzPts val="1959"/>
              <a:buFont typeface="Arial"/>
              <a:buNone/>
            </a:pPr>
            <a:endParaRPr sz="1959">
              <a:solidFill>
                <a:schemeClr val="dk1"/>
              </a:solidFill>
              <a:latin typeface="Arial"/>
              <a:ea typeface="Arial"/>
              <a:cs typeface="Arial"/>
              <a:sym typeface="Arial"/>
            </a:endParaRPr>
          </a:p>
        </p:txBody>
      </p:sp>
      <p:pic>
        <p:nvPicPr>
          <p:cNvPr id="77" name="Google Shape;77;p11"/>
          <p:cNvPicPr preferRelativeResize="0"/>
          <p:nvPr/>
        </p:nvPicPr>
        <p:blipFill rotWithShape="1">
          <a:blip r:embed="rId3">
            <a:alphaModFix/>
          </a:blip>
          <a:srcRect/>
          <a:stretch/>
        </p:blipFill>
        <p:spPr>
          <a:xfrm>
            <a:off x="4265631" y="6141164"/>
            <a:ext cx="1371564" cy="45000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8.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2"/>
          <p:cNvSpPr txBox="1">
            <a:spLocks noGrp="1"/>
          </p:cNvSpPr>
          <p:nvPr>
            <p:ph type="body" idx="1"/>
          </p:nvPr>
        </p:nvSpPr>
        <p:spPr>
          <a:xfrm>
            <a:off x="720000" y="3551768"/>
            <a:ext cx="6837900" cy="2772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7F7F7F"/>
              </a:buClr>
              <a:buSzPts val="1800"/>
              <a:buNone/>
            </a:pPr>
            <a:r>
              <a:rPr lang="en-US" dirty="0"/>
              <a:t>Group 14</a:t>
            </a:r>
            <a:endParaRPr dirty="0"/>
          </a:p>
        </p:txBody>
      </p:sp>
      <p:sp>
        <p:nvSpPr>
          <p:cNvPr id="83" name="Google Shape;83;p12"/>
          <p:cNvSpPr txBox="1">
            <a:spLocks noGrp="1"/>
          </p:cNvSpPr>
          <p:nvPr>
            <p:ph type="title"/>
          </p:nvPr>
        </p:nvSpPr>
        <p:spPr>
          <a:xfrm>
            <a:off x="720000" y="1710000"/>
            <a:ext cx="6675000" cy="738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4800"/>
              <a:buFont typeface="Arial"/>
              <a:buNone/>
            </a:pPr>
            <a:r>
              <a:rPr lang="en-US"/>
              <a:t>Traffic Sign Detection</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pSp>
        <p:nvGrpSpPr>
          <p:cNvPr id="88" name="Google Shape;88;p13"/>
          <p:cNvGrpSpPr/>
          <p:nvPr/>
        </p:nvGrpSpPr>
        <p:grpSpPr>
          <a:xfrm>
            <a:off x="710836" y="1892040"/>
            <a:ext cx="4379913" cy="1216982"/>
            <a:chOff x="4181256" y="3224809"/>
            <a:chExt cx="4379913" cy="1216982"/>
          </a:xfrm>
        </p:grpSpPr>
        <p:sp>
          <p:nvSpPr>
            <p:cNvPr id="89" name="Google Shape;89;p13"/>
            <p:cNvSpPr/>
            <p:nvPr/>
          </p:nvSpPr>
          <p:spPr>
            <a:xfrm>
              <a:off x="4364136" y="3225982"/>
              <a:ext cx="4197033" cy="276999"/>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00">
                  <a:solidFill>
                    <a:srgbClr val="3F3F3F"/>
                  </a:solidFill>
                </a:rPr>
                <a:t>I.Giới thiệu chung</a:t>
              </a:r>
              <a:endParaRPr sz="1800">
                <a:solidFill>
                  <a:srgbClr val="3F3F3F"/>
                </a:solidFill>
              </a:endParaRPr>
            </a:p>
          </p:txBody>
        </p:sp>
        <p:sp>
          <p:nvSpPr>
            <p:cNvPr id="90" name="Google Shape;90;p13"/>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91" name="Google Shape;91;p13"/>
            <p:cNvSpPr/>
            <p:nvPr/>
          </p:nvSpPr>
          <p:spPr>
            <a:xfrm>
              <a:off x="5160752" y="3641572"/>
              <a:ext cx="3400417" cy="800219"/>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b="0" i="0" u="none" strike="noStrike" cap="none" dirty="0">
                  <a:solidFill>
                    <a:srgbClr val="193EB0"/>
                  </a:solidFill>
                  <a:latin typeface="Arial"/>
                  <a:ea typeface="Arial"/>
                  <a:cs typeface="Arial"/>
                  <a:sym typeface="Arial"/>
                </a:rPr>
                <a:t>1.1. </a:t>
              </a:r>
              <a:r>
                <a:rPr lang="en-US" dirty="0" err="1">
                  <a:solidFill>
                    <a:srgbClr val="193EB0"/>
                  </a:solidFill>
                </a:rPr>
                <a:t>Giới</a:t>
              </a:r>
              <a:r>
                <a:rPr lang="en-US" dirty="0">
                  <a:solidFill>
                    <a:srgbClr val="193EB0"/>
                  </a:solidFill>
                </a:rPr>
                <a:t> </a:t>
              </a:r>
              <a:r>
                <a:rPr lang="en-US" dirty="0" err="1">
                  <a:solidFill>
                    <a:srgbClr val="193EB0"/>
                  </a:solidFill>
                </a:rPr>
                <a:t>thiệu</a:t>
              </a:r>
              <a:r>
                <a:rPr lang="en-US" dirty="0">
                  <a:solidFill>
                    <a:srgbClr val="193EB0"/>
                  </a:solidFill>
                </a:rPr>
                <a:t> </a:t>
              </a:r>
              <a:r>
                <a:rPr lang="en-US" dirty="0" err="1">
                  <a:solidFill>
                    <a:srgbClr val="193EB0"/>
                  </a:solidFill>
                </a:rPr>
                <a:t>vấn</a:t>
              </a:r>
              <a:r>
                <a:rPr lang="en-US" dirty="0">
                  <a:solidFill>
                    <a:srgbClr val="193EB0"/>
                  </a:solidFill>
                </a:rPr>
                <a:t> </a:t>
              </a:r>
              <a:r>
                <a:rPr lang="en-US" dirty="0" err="1">
                  <a:solidFill>
                    <a:srgbClr val="193EB0"/>
                  </a:solidFill>
                </a:rPr>
                <a:t>đề</a:t>
              </a:r>
              <a:endParaRPr dirty="0"/>
            </a:p>
            <a:p>
              <a:pPr marL="0" marR="0" lvl="0" indent="0" algn="l" rtl="0">
                <a:spcBef>
                  <a:spcPts val="600"/>
                </a:spcBef>
                <a:spcAft>
                  <a:spcPts val="0"/>
                </a:spcAft>
                <a:buNone/>
              </a:pPr>
              <a:r>
                <a:rPr lang="en-US" sz="1400" b="0" i="0" u="none" strike="noStrike" cap="none" dirty="0">
                  <a:solidFill>
                    <a:srgbClr val="193EB0"/>
                  </a:solidFill>
                  <a:latin typeface="Arial"/>
                  <a:ea typeface="Arial"/>
                  <a:cs typeface="Arial"/>
                  <a:sym typeface="Arial"/>
                </a:rPr>
                <a:t>1.2. </a:t>
              </a:r>
              <a:r>
                <a:rPr lang="en-US" dirty="0" err="1">
                  <a:solidFill>
                    <a:srgbClr val="193EB0"/>
                  </a:solidFill>
                </a:rPr>
                <a:t>Nghiên</a:t>
              </a:r>
              <a:r>
                <a:rPr lang="en-US" dirty="0">
                  <a:solidFill>
                    <a:srgbClr val="193EB0"/>
                  </a:solidFill>
                </a:rPr>
                <a:t> </a:t>
              </a:r>
              <a:r>
                <a:rPr lang="en-US" dirty="0" err="1">
                  <a:solidFill>
                    <a:srgbClr val="193EB0"/>
                  </a:solidFill>
                </a:rPr>
                <a:t>cứu</a:t>
              </a:r>
              <a:r>
                <a:rPr lang="en-US" dirty="0">
                  <a:solidFill>
                    <a:srgbClr val="193EB0"/>
                  </a:solidFill>
                </a:rPr>
                <a:t> </a:t>
              </a:r>
              <a:r>
                <a:rPr lang="en-US" dirty="0" err="1">
                  <a:solidFill>
                    <a:srgbClr val="193EB0"/>
                  </a:solidFill>
                </a:rPr>
                <a:t>mục</a:t>
              </a:r>
              <a:r>
                <a:rPr lang="en-US" dirty="0">
                  <a:solidFill>
                    <a:srgbClr val="193EB0"/>
                  </a:solidFill>
                </a:rPr>
                <a:t> </a:t>
              </a:r>
              <a:r>
                <a:rPr lang="en-US" dirty="0" err="1">
                  <a:solidFill>
                    <a:srgbClr val="193EB0"/>
                  </a:solidFill>
                </a:rPr>
                <a:t>tiêu</a:t>
              </a:r>
              <a:endParaRPr dirty="0">
                <a:solidFill>
                  <a:srgbClr val="193EB0"/>
                </a:solidFill>
              </a:endParaRPr>
            </a:p>
            <a:p>
              <a:pPr marL="0" marR="0" lvl="0" indent="0" algn="l" rtl="0">
                <a:spcBef>
                  <a:spcPts val="600"/>
                </a:spcBef>
                <a:spcAft>
                  <a:spcPts val="0"/>
                </a:spcAft>
                <a:buNone/>
              </a:pPr>
              <a:r>
                <a:rPr lang="en-US" sz="1400" b="0" i="0" u="none" strike="noStrike" cap="none" dirty="0">
                  <a:solidFill>
                    <a:srgbClr val="193EB0"/>
                  </a:solidFill>
                  <a:latin typeface="Arial"/>
                  <a:ea typeface="Arial"/>
                  <a:cs typeface="Arial"/>
                  <a:sym typeface="Arial"/>
                </a:rPr>
                <a:t>1.3. </a:t>
              </a:r>
              <a:r>
                <a:rPr lang="en-US" dirty="0" err="1">
                  <a:solidFill>
                    <a:srgbClr val="193EB0"/>
                  </a:solidFill>
                </a:rPr>
                <a:t>Thành</a:t>
              </a:r>
              <a:r>
                <a:rPr lang="en-US" dirty="0">
                  <a:solidFill>
                    <a:srgbClr val="193EB0"/>
                  </a:solidFill>
                </a:rPr>
                <a:t> </a:t>
              </a:r>
              <a:r>
                <a:rPr lang="en-US" dirty="0" err="1">
                  <a:solidFill>
                    <a:srgbClr val="193EB0"/>
                  </a:solidFill>
                </a:rPr>
                <a:t>viên</a:t>
              </a:r>
              <a:r>
                <a:rPr lang="en-US" dirty="0">
                  <a:solidFill>
                    <a:srgbClr val="193EB0"/>
                  </a:solidFill>
                </a:rPr>
                <a:t> </a:t>
              </a:r>
              <a:r>
                <a:rPr lang="en-US" dirty="0" err="1">
                  <a:solidFill>
                    <a:srgbClr val="193EB0"/>
                  </a:solidFill>
                </a:rPr>
                <a:t>và</a:t>
              </a:r>
              <a:r>
                <a:rPr lang="en-US" dirty="0">
                  <a:solidFill>
                    <a:srgbClr val="193EB0"/>
                  </a:solidFill>
                </a:rPr>
                <a:t> </a:t>
              </a:r>
              <a:r>
                <a:rPr lang="en-US" dirty="0" err="1">
                  <a:solidFill>
                    <a:srgbClr val="193EB0"/>
                  </a:solidFill>
                </a:rPr>
                <a:t>phân</a:t>
              </a:r>
              <a:r>
                <a:rPr lang="en-US" dirty="0">
                  <a:solidFill>
                    <a:srgbClr val="193EB0"/>
                  </a:solidFill>
                </a:rPr>
                <a:t> </a:t>
              </a:r>
              <a:r>
                <a:rPr lang="en-US" dirty="0" err="1">
                  <a:solidFill>
                    <a:srgbClr val="193EB0"/>
                  </a:solidFill>
                </a:rPr>
                <a:t>công</a:t>
              </a:r>
              <a:r>
                <a:rPr lang="en-US" dirty="0">
                  <a:solidFill>
                    <a:srgbClr val="193EB0"/>
                  </a:solidFill>
                </a:rPr>
                <a:t> </a:t>
              </a:r>
              <a:r>
                <a:rPr lang="en-US" dirty="0" err="1">
                  <a:solidFill>
                    <a:srgbClr val="193EB0"/>
                  </a:solidFill>
                </a:rPr>
                <a:t>công</a:t>
              </a:r>
              <a:r>
                <a:rPr lang="en-US" dirty="0">
                  <a:solidFill>
                    <a:srgbClr val="193EB0"/>
                  </a:solidFill>
                </a:rPr>
                <a:t> </a:t>
              </a:r>
              <a:r>
                <a:rPr lang="en-US" dirty="0" err="1">
                  <a:solidFill>
                    <a:srgbClr val="193EB0"/>
                  </a:solidFill>
                </a:rPr>
                <a:t>việc</a:t>
              </a:r>
              <a:endParaRPr dirty="0">
                <a:solidFill>
                  <a:srgbClr val="193EB0"/>
                </a:solidFill>
              </a:endParaRPr>
            </a:p>
          </p:txBody>
        </p:sp>
      </p:grpSp>
      <p:grpSp>
        <p:nvGrpSpPr>
          <p:cNvPr id="92" name="Google Shape;92;p13"/>
          <p:cNvGrpSpPr/>
          <p:nvPr/>
        </p:nvGrpSpPr>
        <p:grpSpPr>
          <a:xfrm>
            <a:off x="710836" y="3266753"/>
            <a:ext cx="4379913" cy="1216982"/>
            <a:chOff x="4181256" y="3224809"/>
            <a:chExt cx="4379913" cy="1216982"/>
          </a:xfrm>
        </p:grpSpPr>
        <p:sp>
          <p:nvSpPr>
            <p:cNvPr id="93" name="Google Shape;93;p13"/>
            <p:cNvSpPr/>
            <p:nvPr/>
          </p:nvSpPr>
          <p:spPr>
            <a:xfrm>
              <a:off x="4364136" y="3225982"/>
              <a:ext cx="4197033" cy="276999"/>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00">
                  <a:solidFill>
                    <a:srgbClr val="3F3F3F"/>
                  </a:solidFill>
                </a:rPr>
                <a:t>II. Triển khai dự án</a:t>
              </a:r>
              <a:endParaRPr/>
            </a:p>
          </p:txBody>
        </p:sp>
        <p:sp>
          <p:nvSpPr>
            <p:cNvPr id="94" name="Google Shape;94;p13"/>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95" name="Google Shape;95;p13"/>
            <p:cNvSpPr/>
            <p:nvPr/>
          </p:nvSpPr>
          <p:spPr>
            <a:xfrm>
              <a:off x="5160752" y="3641572"/>
              <a:ext cx="3400417" cy="800219"/>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b="0" i="0" u="none" strike="noStrike" cap="none" dirty="0">
                  <a:solidFill>
                    <a:srgbClr val="193EB0"/>
                  </a:solidFill>
                  <a:latin typeface="Arial"/>
                  <a:ea typeface="Arial"/>
                  <a:cs typeface="Arial"/>
                  <a:sym typeface="Arial"/>
                </a:rPr>
                <a:t>2.1. </a:t>
              </a:r>
              <a:r>
                <a:rPr lang="en-US" dirty="0" err="1">
                  <a:solidFill>
                    <a:srgbClr val="193EB0"/>
                  </a:solidFill>
                </a:rPr>
                <a:t>Tập</a:t>
              </a:r>
              <a:r>
                <a:rPr lang="en-US" dirty="0">
                  <a:solidFill>
                    <a:srgbClr val="193EB0"/>
                  </a:solidFill>
                </a:rPr>
                <a:t> </a:t>
              </a:r>
              <a:r>
                <a:rPr lang="en-US" dirty="0" err="1">
                  <a:solidFill>
                    <a:srgbClr val="193EB0"/>
                  </a:solidFill>
                </a:rPr>
                <a:t>dữ</a:t>
              </a:r>
              <a:r>
                <a:rPr lang="en-US" dirty="0">
                  <a:solidFill>
                    <a:srgbClr val="193EB0"/>
                  </a:solidFill>
                </a:rPr>
                <a:t> </a:t>
              </a:r>
              <a:r>
                <a:rPr lang="en-US" dirty="0" err="1">
                  <a:solidFill>
                    <a:srgbClr val="193EB0"/>
                  </a:solidFill>
                </a:rPr>
                <a:t>liệu</a:t>
              </a:r>
              <a:endParaRPr dirty="0"/>
            </a:p>
            <a:p>
              <a:pPr marL="0" marR="0" lvl="0" indent="0" algn="l" rtl="0">
                <a:spcBef>
                  <a:spcPts val="600"/>
                </a:spcBef>
                <a:spcAft>
                  <a:spcPts val="0"/>
                </a:spcAft>
                <a:buNone/>
              </a:pPr>
              <a:r>
                <a:rPr lang="en-US" sz="1400" b="0" i="0" u="none" strike="noStrike" cap="none" dirty="0">
                  <a:solidFill>
                    <a:srgbClr val="193EB0"/>
                  </a:solidFill>
                  <a:latin typeface="Arial"/>
                  <a:ea typeface="Arial"/>
                  <a:cs typeface="Arial"/>
                  <a:sym typeface="Arial"/>
                </a:rPr>
                <a:t>2.2. </a:t>
              </a:r>
              <a:r>
                <a:rPr lang="en-US" dirty="0">
                  <a:solidFill>
                    <a:srgbClr val="193EB0"/>
                  </a:solidFill>
                </a:rPr>
                <a:t>Chi </a:t>
              </a:r>
              <a:r>
                <a:rPr lang="en-US" dirty="0" err="1">
                  <a:solidFill>
                    <a:srgbClr val="193EB0"/>
                  </a:solidFill>
                </a:rPr>
                <a:t>tiết</a:t>
              </a:r>
              <a:r>
                <a:rPr lang="en-US" dirty="0">
                  <a:solidFill>
                    <a:srgbClr val="193EB0"/>
                  </a:solidFill>
                </a:rPr>
                <a:t> </a:t>
              </a:r>
              <a:r>
                <a:rPr lang="en-US" dirty="0" err="1">
                  <a:solidFill>
                    <a:srgbClr val="193EB0"/>
                  </a:solidFill>
                </a:rPr>
                <a:t>quá</a:t>
              </a:r>
              <a:r>
                <a:rPr lang="en-US" dirty="0">
                  <a:solidFill>
                    <a:srgbClr val="193EB0"/>
                  </a:solidFill>
                </a:rPr>
                <a:t> </a:t>
              </a:r>
              <a:r>
                <a:rPr lang="en-US" dirty="0" err="1">
                  <a:solidFill>
                    <a:srgbClr val="193EB0"/>
                  </a:solidFill>
                </a:rPr>
                <a:t>trình</a:t>
              </a:r>
              <a:r>
                <a:rPr lang="en-US" dirty="0">
                  <a:solidFill>
                    <a:srgbClr val="193EB0"/>
                  </a:solidFill>
                </a:rPr>
                <a:t> </a:t>
              </a:r>
              <a:r>
                <a:rPr lang="en-US" dirty="0" err="1">
                  <a:solidFill>
                    <a:srgbClr val="193EB0"/>
                  </a:solidFill>
                </a:rPr>
                <a:t>làm</a:t>
              </a:r>
              <a:r>
                <a:rPr lang="en-US" dirty="0">
                  <a:solidFill>
                    <a:srgbClr val="193EB0"/>
                  </a:solidFill>
                </a:rPr>
                <a:t> </a:t>
              </a:r>
              <a:r>
                <a:rPr lang="en-US" dirty="0" err="1">
                  <a:solidFill>
                    <a:srgbClr val="193EB0"/>
                  </a:solidFill>
                </a:rPr>
                <a:t>việc</a:t>
              </a:r>
              <a:endParaRPr dirty="0">
                <a:solidFill>
                  <a:srgbClr val="193EB0"/>
                </a:solidFill>
              </a:endParaRPr>
            </a:p>
            <a:p>
              <a:pPr marL="0" marR="0" lvl="0" indent="0" algn="l" rtl="0">
                <a:spcBef>
                  <a:spcPts val="600"/>
                </a:spcBef>
                <a:spcAft>
                  <a:spcPts val="0"/>
                </a:spcAft>
                <a:buNone/>
              </a:pPr>
              <a:endParaRPr dirty="0">
                <a:solidFill>
                  <a:srgbClr val="A5A5A5"/>
                </a:solidFill>
              </a:endParaRPr>
            </a:p>
            <a:p>
              <a:pPr marL="0" marR="0" lvl="0" indent="0" algn="l" rtl="0">
                <a:spcBef>
                  <a:spcPts val="600"/>
                </a:spcBef>
                <a:spcAft>
                  <a:spcPts val="0"/>
                </a:spcAft>
                <a:buNone/>
              </a:pPr>
              <a:endParaRPr dirty="0"/>
            </a:p>
          </p:txBody>
        </p:sp>
      </p:grpSp>
      <p:grpSp>
        <p:nvGrpSpPr>
          <p:cNvPr id="96" name="Google Shape;96;p13"/>
          <p:cNvGrpSpPr/>
          <p:nvPr/>
        </p:nvGrpSpPr>
        <p:grpSpPr>
          <a:xfrm>
            <a:off x="652611" y="4641441"/>
            <a:ext cx="4379913" cy="1216982"/>
            <a:chOff x="4181256" y="3224809"/>
            <a:chExt cx="4379913" cy="1216982"/>
          </a:xfrm>
        </p:grpSpPr>
        <p:sp>
          <p:nvSpPr>
            <p:cNvPr id="97" name="Google Shape;97;p13"/>
            <p:cNvSpPr/>
            <p:nvPr/>
          </p:nvSpPr>
          <p:spPr>
            <a:xfrm>
              <a:off x="4364136" y="3225982"/>
              <a:ext cx="4197000" cy="276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00">
                  <a:solidFill>
                    <a:srgbClr val="3F3F3F"/>
                  </a:solidFill>
                </a:rPr>
                <a:t>III. Demo &amp; Tổng kết</a:t>
              </a:r>
              <a:endParaRPr sz="1800">
                <a:solidFill>
                  <a:srgbClr val="3F3F3F"/>
                </a:solidFill>
              </a:endParaRPr>
            </a:p>
          </p:txBody>
        </p:sp>
        <p:sp>
          <p:nvSpPr>
            <p:cNvPr id="98" name="Google Shape;98;p13"/>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99" name="Google Shape;99;p13"/>
            <p:cNvSpPr/>
            <p:nvPr/>
          </p:nvSpPr>
          <p:spPr>
            <a:xfrm>
              <a:off x="5160752" y="3641572"/>
              <a:ext cx="3400417" cy="800219"/>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b="0" i="0" u="none" strike="noStrike" cap="none" dirty="0">
                  <a:solidFill>
                    <a:srgbClr val="193EB0"/>
                  </a:solidFill>
                  <a:latin typeface="Arial"/>
                  <a:ea typeface="Arial"/>
                  <a:cs typeface="Arial"/>
                  <a:sym typeface="Arial"/>
                </a:rPr>
                <a:t>3.1. </a:t>
              </a:r>
              <a:r>
                <a:rPr lang="en-US" dirty="0" err="1">
                  <a:solidFill>
                    <a:srgbClr val="193EB0"/>
                  </a:solidFill>
                </a:rPr>
                <a:t>Chạy</a:t>
              </a:r>
              <a:r>
                <a:rPr lang="en-US" dirty="0">
                  <a:solidFill>
                    <a:srgbClr val="193EB0"/>
                  </a:solidFill>
                </a:rPr>
                <a:t> </a:t>
              </a:r>
              <a:r>
                <a:rPr lang="en-US" dirty="0" err="1">
                  <a:solidFill>
                    <a:srgbClr val="193EB0"/>
                  </a:solidFill>
                </a:rPr>
                <a:t>chương</a:t>
              </a:r>
              <a:r>
                <a:rPr lang="en-US" dirty="0">
                  <a:solidFill>
                    <a:srgbClr val="193EB0"/>
                  </a:solidFill>
                </a:rPr>
                <a:t> </a:t>
              </a:r>
              <a:r>
                <a:rPr lang="en-US" dirty="0" err="1">
                  <a:solidFill>
                    <a:srgbClr val="193EB0"/>
                  </a:solidFill>
                </a:rPr>
                <a:t>trình</a:t>
              </a:r>
              <a:endParaRPr dirty="0"/>
            </a:p>
            <a:p>
              <a:pPr marL="0" marR="0" lvl="0" indent="0" algn="l" rtl="0">
                <a:spcBef>
                  <a:spcPts val="600"/>
                </a:spcBef>
                <a:spcAft>
                  <a:spcPts val="0"/>
                </a:spcAft>
                <a:buNone/>
              </a:pPr>
              <a:r>
                <a:rPr lang="en-US" sz="1400" b="0" i="0" u="none" strike="noStrike" cap="none" dirty="0">
                  <a:solidFill>
                    <a:srgbClr val="193EB0"/>
                  </a:solidFill>
                  <a:latin typeface="Arial"/>
                  <a:ea typeface="Arial"/>
                  <a:cs typeface="Arial"/>
                  <a:sym typeface="Arial"/>
                </a:rPr>
                <a:t>3.2. </a:t>
              </a:r>
              <a:r>
                <a:rPr lang="en-US" sz="1400" b="0" i="0" u="none" strike="noStrike" cap="none" dirty="0" err="1">
                  <a:solidFill>
                    <a:srgbClr val="193EB0"/>
                  </a:solidFill>
                  <a:latin typeface="Arial"/>
                  <a:ea typeface="Arial"/>
                  <a:cs typeface="Arial"/>
                  <a:sym typeface="Arial"/>
                </a:rPr>
                <a:t>K</a:t>
              </a:r>
              <a:r>
                <a:rPr lang="en-US" dirty="0" err="1">
                  <a:solidFill>
                    <a:srgbClr val="193EB0"/>
                  </a:solidFill>
                </a:rPr>
                <a:t>ết</a:t>
              </a:r>
              <a:r>
                <a:rPr lang="en-US" dirty="0">
                  <a:solidFill>
                    <a:srgbClr val="193EB0"/>
                  </a:solidFill>
                </a:rPr>
                <a:t> </a:t>
              </a:r>
              <a:r>
                <a:rPr lang="en-US" dirty="0" err="1">
                  <a:solidFill>
                    <a:srgbClr val="193EB0"/>
                  </a:solidFill>
                </a:rPr>
                <a:t>luận</a:t>
              </a:r>
              <a:endParaRPr dirty="0">
                <a:solidFill>
                  <a:srgbClr val="193EB0"/>
                </a:solidFill>
              </a:endParaRPr>
            </a:p>
          </p:txBody>
        </p:sp>
      </p:grpSp>
      <p:sp>
        <p:nvSpPr>
          <p:cNvPr id="100" name="Google Shape;100;p13"/>
          <p:cNvSpPr/>
          <p:nvPr/>
        </p:nvSpPr>
        <p:spPr>
          <a:xfrm>
            <a:off x="710836" y="357668"/>
            <a:ext cx="8508320" cy="3693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400">
                <a:solidFill>
                  <a:schemeClr val="lt1"/>
                </a:solidFill>
              </a:rPr>
              <a:t>Traffic Sign Detection</a:t>
            </a:r>
            <a:endParaRPr sz="2400">
              <a:solidFill>
                <a:schemeClr val="lt1"/>
              </a:solidFill>
            </a:endParaRPr>
          </a:p>
          <a:p>
            <a:pPr marL="0" marR="0" lvl="0" indent="0" algn="l" rtl="0">
              <a:spcBef>
                <a:spcPts val="0"/>
              </a:spcBef>
              <a:spcAft>
                <a:spcPts val="0"/>
              </a:spcAft>
              <a:buNone/>
            </a:pPr>
            <a:endParaRPr sz="2400">
              <a:solidFill>
                <a:schemeClr val="lt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449468" y="1440000"/>
            <a:ext cx="8541300" cy="492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C0C0C"/>
              </a:buClr>
              <a:buSzPts val="3200"/>
              <a:buFont typeface="Arial"/>
              <a:buNone/>
            </a:pPr>
            <a:r>
              <a:rPr lang="en-US"/>
              <a:t>1.1. Giới thiệu vấn đề</a:t>
            </a:r>
            <a:endParaRPr/>
          </a:p>
        </p:txBody>
      </p:sp>
      <p:sp>
        <p:nvSpPr>
          <p:cNvPr id="106" name="Google Shape;106;p14"/>
          <p:cNvSpPr txBox="1">
            <a:spLocks noGrp="1"/>
          </p:cNvSpPr>
          <p:nvPr>
            <p:ph type="body" idx="2"/>
          </p:nvPr>
        </p:nvSpPr>
        <p:spPr>
          <a:xfrm>
            <a:off x="449475" y="465439"/>
            <a:ext cx="6837900" cy="276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lt1"/>
              </a:buClr>
              <a:buSzPts val="1700"/>
              <a:buNone/>
            </a:pPr>
            <a:r>
              <a:rPr lang="en-US"/>
              <a:t>I.Giới thiệu chung</a:t>
            </a:r>
            <a:endParaRPr/>
          </a:p>
        </p:txBody>
      </p:sp>
      <p:sp>
        <p:nvSpPr>
          <p:cNvPr id="107" name="Google Shape;107;p14"/>
          <p:cNvSpPr txBox="1">
            <a:spLocks noGrp="1"/>
          </p:cNvSpPr>
          <p:nvPr>
            <p:ph type="body" idx="5"/>
          </p:nvPr>
        </p:nvSpPr>
        <p:spPr>
          <a:xfrm>
            <a:off x="522300" y="2221658"/>
            <a:ext cx="8055300" cy="3300000"/>
          </a:xfrm>
          <a:prstGeom prst="rect">
            <a:avLst/>
          </a:prstGeom>
          <a:noFill/>
          <a:ln>
            <a:noFill/>
          </a:ln>
        </p:spPr>
        <p:txBody>
          <a:bodyPr spcFirstLastPara="1" wrap="square" lIns="0" tIns="0" rIns="0" bIns="0" anchor="t" anchorCtr="0">
            <a:noAutofit/>
          </a:bodyPr>
          <a:lstStyle/>
          <a:p>
            <a:pPr marL="177746" lvl="0" indent="-186001" algn="l" rtl="0">
              <a:lnSpc>
                <a:spcPct val="128571"/>
              </a:lnSpc>
              <a:spcBef>
                <a:spcPts val="0"/>
              </a:spcBef>
              <a:spcAft>
                <a:spcPts val="0"/>
              </a:spcAft>
              <a:buClr>
                <a:srgbClr val="262626"/>
              </a:buClr>
              <a:buSzPts val="1600"/>
              <a:buFont typeface="Arial"/>
              <a:buChar char="•"/>
            </a:pPr>
            <a:r>
              <a:rPr lang="en-US" sz="1600" dirty="0" err="1"/>
              <a:t>Dự</a:t>
            </a:r>
            <a:r>
              <a:rPr lang="en-US" sz="1600" dirty="0"/>
              <a:t> </a:t>
            </a:r>
            <a:r>
              <a:rPr lang="en-US" sz="1600" dirty="0" err="1"/>
              <a:t>án</a:t>
            </a:r>
            <a:r>
              <a:rPr lang="en-US" sz="1600" dirty="0"/>
              <a:t> </a:t>
            </a:r>
            <a:r>
              <a:rPr lang="en-US" sz="1600" dirty="0" err="1"/>
              <a:t>phát</a:t>
            </a:r>
            <a:r>
              <a:rPr lang="en-US" sz="1600" dirty="0"/>
              <a:t> </a:t>
            </a:r>
            <a:r>
              <a:rPr lang="en-US" sz="1600" dirty="0" err="1"/>
              <a:t>triển</a:t>
            </a:r>
            <a:r>
              <a:rPr lang="en-US" sz="1600" dirty="0"/>
              <a:t> </a:t>
            </a:r>
            <a:r>
              <a:rPr lang="en-US" sz="1600" dirty="0" err="1"/>
              <a:t>một</a:t>
            </a:r>
            <a:r>
              <a:rPr lang="en-US" sz="1600" dirty="0"/>
              <a:t> </a:t>
            </a:r>
            <a:r>
              <a:rPr lang="en-US" sz="1600" dirty="0" err="1"/>
              <a:t>hệ</a:t>
            </a:r>
            <a:r>
              <a:rPr lang="en-US" sz="1600" dirty="0"/>
              <a:t> </a:t>
            </a:r>
            <a:r>
              <a:rPr lang="en-US" sz="1600" dirty="0" err="1"/>
              <a:t>thống</a:t>
            </a:r>
            <a:r>
              <a:rPr lang="en-US" sz="1600" dirty="0"/>
              <a:t> </a:t>
            </a:r>
            <a:r>
              <a:rPr lang="en-US" sz="1600" dirty="0" err="1"/>
              <a:t>nhận</a:t>
            </a:r>
            <a:r>
              <a:rPr lang="en-US" sz="1600" dirty="0"/>
              <a:t> </a:t>
            </a:r>
            <a:r>
              <a:rPr lang="en-US" sz="1600" dirty="0" err="1"/>
              <a:t>diện</a:t>
            </a:r>
            <a:r>
              <a:rPr lang="en-US" sz="1600" dirty="0"/>
              <a:t> </a:t>
            </a:r>
            <a:r>
              <a:rPr lang="en-US" sz="1600" dirty="0" err="1"/>
              <a:t>biển</a:t>
            </a:r>
            <a:r>
              <a:rPr lang="en-US" sz="1600" dirty="0"/>
              <a:t> </a:t>
            </a:r>
            <a:r>
              <a:rPr lang="en-US" sz="1600" dirty="0" err="1"/>
              <a:t>báo</a:t>
            </a:r>
            <a:r>
              <a:rPr lang="en-US" sz="1600" dirty="0"/>
              <a:t> </a:t>
            </a:r>
            <a:r>
              <a:rPr lang="en-US" sz="1600" dirty="0" err="1"/>
              <a:t>giao</a:t>
            </a:r>
            <a:r>
              <a:rPr lang="en-US" sz="1600" dirty="0"/>
              <a:t> </a:t>
            </a:r>
            <a:r>
              <a:rPr lang="en-US" sz="1600" dirty="0" err="1"/>
              <a:t>thông</a:t>
            </a:r>
            <a:r>
              <a:rPr lang="en-US" sz="1600" dirty="0"/>
              <a:t> </a:t>
            </a:r>
            <a:r>
              <a:rPr lang="en-US" sz="1600" dirty="0" err="1"/>
              <a:t>Việt</a:t>
            </a:r>
            <a:r>
              <a:rPr lang="en-US" sz="1600" dirty="0"/>
              <a:t> Nam </a:t>
            </a:r>
            <a:r>
              <a:rPr lang="en-US" sz="1600" dirty="0" err="1"/>
              <a:t>sử</a:t>
            </a:r>
            <a:r>
              <a:rPr lang="en-US" sz="1600" dirty="0"/>
              <a:t> </a:t>
            </a:r>
            <a:r>
              <a:rPr lang="en-US" sz="1600" dirty="0" err="1"/>
              <a:t>dụng</a:t>
            </a:r>
            <a:r>
              <a:rPr lang="en-US" sz="1600" dirty="0"/>
              <a:t> </a:t>
            </a:r>
            <a:r>
              <a:rPr lang="en-US" sz="1600" dirty="0" err="1"/>
              <a:t>mô</a:t>
            </a:r>
            <a:r>
              <a:rPr lang="en-US" sz="1600" dirty="0"/>
              <a:t> </a:t>
            </a:r>
            <a:r>
              <a:rPr lang="en-US" sz="1600" dirty="0" err="1"/>
              <a:t>hình</a:t>
            </a:r>
            <a:r>
              <a:rPr lang="en-US" sz="1600" dirty="0"/>
              <a:t> </a:t>
            </a:r>
            <a:r>
              <a:rPr lang="en-US" sz="1600" dirty="0" err="1"/>
              <a:t>học</a:t>
            </a:r>
            <a:r>
              <a:rPr lang="en-US" sz="1600" dirty="0"/>
              <a:t> </a:t>
            </a:r>
            <a:r>
              <a:rPr lang="en-US" sz="1600" dirty="0" err="1"/>
              <a:t>sâu</a:t>
            </a:r>
            <a:r>
              <a:rPr lang="en-US" sz="1600" dirty="0"/>
              <a:t> YOLOv8, </a:t>
            </a:r>
            <a:r>
              <a:rPr lang="en-US" sz="1600" dirty="0" err="1"/>
              <a:t>nhằm</a:t>
            </a:r>
            <a:r>
              <a:rPr lang="en-US" sz="1600" dirty="0"/>
              <a:t> </a:t>
            </a:r>
            <a:r>
              <a:rPr lang="en-US" sz="1600" dirty="0" err="1"/>
              <a:t>nâng</a:t>
            </a:r>
            <a:r>
              <a:rPr lang="en-US" sz="1600" dirty="0"/>
              <a:t> </a:t>
            </a:r>
            <a:r>
              <a:rPr lang="en-US" sz="1600" dirty="0" err="1"/>
              <a:t>cao</a:t>
            </a:r>
            <a:r>
              <a:rPr lang="en-US" sz="1600" dirty="0"/>
              <a:t> an </a:t>
            </a:r>
            <a:r>
              <a:rPr lang="en-US" sz="1600" dirty="0" err="1"/>
              <a:t>toàn</a:t>
            </a:r>
            <a:r>
              <a:rPr lang="en-US" sz="1600" dirty="0"/>
              <a:t> </a:t>
            </a:r>
            <a:r>
              <a:rPr lang="en-US" sz="1600" dirty="0" err="1"/>
              <a:t>giao</a:t>
            </a:r>
            <a:r>
              <a:rPr lang="en-US" sz="1600" dirty="0"/>
              <a:t> </a:t>
            </a:r>
            <a:r>
              <a:rPr lang="en-US" sz="1600" dirty="0" err="1"/>
              <a:t>thông</a:t>
            </a:r>
            <a:r>
              <a:rPr lang="en-US" sz="1600" dirty="0"/>
              <a:t> </a:t>
            </a:r>
            <a:r>
              <a:rPr lang="en-US" sz="1600" dirty="0" err="1"/>
              <a:t>và</a:t>
            </a:r>
            <a:r>
              <a:rPr lang="en-US" sz="1600" dirty="0"/>
              <a:t> </a:t>
            </a:r>
            <a:r>
              <a:rPr lang="en-US" sz="1600" dirty="0" err="1"/>
              <a:t>hỗ</a:t>
            </a:r>
            <a:r>
              <a:rPr lang="en-US" sz="1600" dirty="0"/>
              <a:t> </a:t>
            </a:r>
            <a:r>
              <a:rPr lang="en-US" sz="1600" dirty="0" err="1"/>
              <a:t>trợ</a:t>
            </a:r>
            <a:r>
              <a:rPr lang="en-US" sz="1600" dirty="0"/>
              <a:t> </a:t>
            </a:r>
            <a:r>
              <a:rPr lang="en-US" sz="1600" dirty="0" err="1"/>
              <a:t>người</a:t>
            </a:r>
            <a:r>
              <a:rPr lang="en-US" sz="1600" dirty="0"/>
              <a:t> </a:t>
            </a:r>
            <a:r>
              <a:rPr lang="en-US" sz="1600" dirty="0" err="1"/>
              <a:t>lái</a:t>
            </a:r>
            <a:r>
              <a:rPr lang="en-US" sz="1600" dirty="0"/>
              <a:t> </a:t>
            </a:r>
            <a:r>
              <a:rPr lang="en-US" sz="1600" dirty="0" err="1"/>
              <a:t>xe</a:t>
            </a:r>
            <a:r>
              <a:rPr lang="en-US" sz="1600" dirty="0"/>
              <a:t> </a:t>
            </a:r>
            <a:r>
              <a:rPr lang="en-US" sz="1600" dirty="0" err="1"/>
              <a:t>tuân</a:t>
            </a:r>
            <a:r>
              <a:rPr lang="en-US" sz="1600" dirty="0"/>
              <a:t> </a:t>
            </a:r>
            <a:r>
              <a:rPr lang="en-US" sz="1600" dirty="0" err="1"/>
              <a:t>thủ</a:t>
            </a:r>
            <a:r>
              <a:rPr lang="en-US" sz="1600" dirty="0"/>
              <a:t> </a:t>
            </a:r>
            <a:r>
              <a:rPr lang="en-US" sz="1600" dirty="0" err="1"/>
              <a:t>luật</a:t>
            </a:r>
            <a:r>
              <a:rPr lang="en-US" sz="1600" dirty="0"/>
              <a:t> </a:t>
            </a:r>
            <a:r>
              <a:rPr lang="en-US" sz="1600" dirty="0" err="1"/>
              <a:t>lệ</a:t>
            </a:r>
            <a:r>
              <a:rPr lang="en-US" sz="1600" dirty="0"/>
              <a:t>. </a:t>
            </a:r>
            <a:r>
              <a:rPr lang="en-US" sz="1600" dirty="0" err="1"/>
              <a:t>Hệ</a:t>
            </a:r>
            <a:r>
              <a:rPr lang="en-US" sz="1600" dirty="0"/>
              <a:t> </a:t>
            </a:r>
            <a:r>
              <a:rPr lang="en-US" sz="1600" dirty="0" err="1"/>
              <a:t>thống</a:t>
            </a:r>
            <a:r>
              <a:rPr lang="en-US" sz="1600" dirty="0"/>
              <a:t> </a:t>
            </a:r>
            <a:r>
              <a:rPr lang="en-US" sz="1600" dirty="0" err="1"/>
              <a:t>tập</a:t>
            </a:r>
            <a:r>
              <a:rPr lang="en-US" sz="1600" dirty="0"/>
              <a:t> </a:t>
            </a:r>
            <a:r>
              <a:rPr lang="en-US" sz="1600" dirty="0" err="1"/>
              <a:t>trung</a:t>
            </a:r>
            <a:r>
              <a:rPr lang="en-US" sz="1600" dirty="0"/>
              <a:t> </a:t>
            </a:r>
            <a:r>
              <a:rPr lang="en-US" sz="1600" dirty="0" err="1"/>
              <a:t>vào</a:t>
            </a:r>
            <a:r>
              <a:rPr lang="en-US" sz="1600" dirty="0"/>
              <a:t> </a:t>
            </a:r>
            <a:r>
              <a:rPr lang="en-US" sz="1600" dirty="0" err="1"/>
              <a:t>nhận</a:t>
            </a:r>
            <a:r>
              <a:rPr lang="en-US" sz="1600" dirty="0"/>
              <a:t> </a:t>
            </a:r>
            <a:r>
              <a:rPr lang="en-US" sz="1600" dirty="0" err="1"/>
              <a:t>diện</a:t>
            </a:r>
            <a:r>
              <a:rPr lang="en-US" sz="1600" dirty="0"/>
              <a:t> </a:t>
            </a:r>
            <a:r>
              <a:rPr lang="en-US" sz="1600" dirty="0" err="1"/>
              <a:t>khoảng</a:t>
            </a:r>
            <a:r>
              <a:rPr lang="en-US" sz="1600" dirty="0"/>
              <a:t>  </a:t>
            </a:r>
            <a:r>
              <a:rPr lang="en-US" sz="1600" dirty="0" err="1"/>
              <a:t>loại</a:t>
            </a:r>
            <a:r>
              <a:rPr lang="en-US" sz="1600" dirty="0"/>
              <a:t> </a:t>
            </a:r>
            <a:r>
              <a:rPr lang="en-US" sz="1600" dirty="0" err="1"/>
              <a:t>biển</a:t>
            </a:r>
            <a:r>
              <a:rPr lang="en-US" sz="1600" dirty="0"/>
              <a:t> </a:t>
            </a:r>
            <a:r>
              <a:rPr lang="en-US" sz="1600" dirty="0" err="1"/>
              <a:t>báo</a:t>
            </a:r>
            <a:r>
              <a:rPr lang="en-US" sz="1600" dirty="0"/>
              <a:t> </a:t>
            </a:r>
            <a:r>
              <a:rPr lang="en-US" sz="1600" dirty="0" err="1"/>
              <a:t>theo</a:t>
            </a:r>
            <a:r>
              <a:rPr lang="en-US" sz="1600" dirty="0"/>
              <a:t> Quy </a:t>
            </a:r>
            <a:r>
              <a:rPr lang="en-US" sz="1600" dirty="0" err="1"/>
              <a:t>chuẩn</a:t>
            </a:r>
            <a:r>
              <a:rPr lang="en-US" sz="1600" dirty="0"/>
              <a:t> </a:t>
            </a:r>
            <a:r>
              <a:rPr lang="en-US" sz="1600" dirty="0" err="1"/>
              <a:t>kỹ</a:t>
            </a:r>
            <a:r>
              <a:rPr lang="en-US" sz="1600" dirty="0"/>
              <a:t> </a:t>
            </a:r>
            <a:r>
              <a:rPr lang="en-US" sz="1600" dirty="0" err="1"/>
              <a:t>thuật</a:t>
            </a:r>
            <a:r>
              <a:rPr lang="en-US" sz="1600" dirty="0"/>
              <a:t> </a:t>
            </a:r>
            <a:r>
              <a:rPr lang="en-US" sz="1600" dirty="0" err="1"/>
              <a:t>quốc</a:t>
            </a:r>
            <a:r>
              <a:rPr lang="en-US" sz="1600" dirty="0"/>
              <a:t> </a:t>
            </a:r>
            <a:r>
              <a:rPr lang="en-US" sz="1600" dirty="0" err="1"/>
              <a:t>gia</a:t>
            </a:r>
            <a:r>
              <a:rPr lang="en-US" sz="1600" dirty="0"/>
              <a:t> QCVN 41:2024/BGTVT</a:t>
            </a:r>
            <a:endParaRPr sz="1600" dirty="0"/>
          </a:p>
          <a:p>
            <a:pPr marL="0" lvl="0" indent="0" algn="l" rtl="0">
              <a:lnSpc>
                <a:spcPct val="128571"/>
              </a:lnSpc>
              <a:spcBef>
                <a:spcPts val="0"/>
              </a:spcBef>
              <a:spcAft>
                <a:spcPts val="0"/>
              </a:spcAft>
              <a:buNone/>
            </a:pPr>
            <a:endParaRPr sz="1600" dirty="0"/>
          </a:p>
          <a:p>
            <a:pPr marL="177746" lvl="0" indent="-186001" algn="l" rtl="0">
              <a:lnSpc>
                <a:spcPct val="128571"/>
              </a:lnSpc>
              <a:spcBef>
                <a:spcPts val="0"/>
              </a:spcBef>
              <a:spcAft>
                <a:spcPts val="0"/>
              </a:spcAft>
              <a:buSzPts val="1600"/>
              <a:buChar char="•"/>
            </a:pPr>
            <a:r>
              <a:rPr lang="en-US" sz="1600" dirty="0" err="1"/>
              <a:t>Tính</a:t>
            </a:r>
            <a:r>
              <a:rPr lang="en-US" sz="1600" dirty="0"/>
              <a:t> </a:t>
            </a:r>
            <a:r>
              <a:rPr lang="en-US" sz="1600" dirty="0" err="1"/>
              <a:t>năng</a:t>
            </a:r>
            <a:r>
              <a:rPr lang="en-US" sz="1600" dirty="0"/>
              <a:t> </a:t>
            </a:r>
            <a:r>
              <a:rPr lang="en-US" sz="1600" dirty="0" err="1"/>
              <a:t>cốt</a:t>
            </a:r>
            <a:r>
              <a:rPr lang="en-US" sz="1600" dirty="0"/>
              <a:t> </a:t>
            </a:r>
            <a:r>
              <a:rPr lang="en-US" sz="1600" dirty="0" err="1"/>
              <a:t>lõi</a:t>
            </a:r>
            <a:r>
              <a:rPr lang="en-US" sz="1600" dirty="0"/>
              <a:t> </a:t>
            </a:r>
            <a:r>
              <a:rPr lang="en-US" sz="1600" dirty="0" err="1"/>
              <a:t>của</a:t>
            </a:r>
            <a:r>
              <a:rPr lang="en-US" sz="1600" dirty="0"/>
              <a:t> </a:t>
            </a:r>
            <a:r>
              <a:rPr lang="en-US" sz="1600" dirty="0" err="1"/>
              <a:t>dự</a:t>
            </a:r>
            <a:r>
              <a:rPr lang="en-US" sz="1600" dirty="0"/>
              <a:t> </a:t>
            </a:r>
            <a:r>
              <a:rPr lang="en-US" sz="1600" dirty="0" err="1"/>
              <a:t>án</a:t>
            </a:r>
            <a:r>
              <a:rPr lang="en-US" sz="1600" dirty="0"/>
              <a:t> </a:t>
            </a:r>
            <a:r>
              <a:rPr lang="en-US" sz="1600" dirty="0" err="1"/>
              <a:t>là</a:t>
            </a:r>
            <a:r>
              <a:rPr lang="en-US" sz="1600" dirty="0"/>
              <a:t> </a:t>
            </a:r>
            <a:r>
              <a:rPr lang="en-US" sz="1600" dirty="0" err="1"/>
              <a:t>khả</a:t>
            </a:r>
            <a:r>
              <a:rPr lang="en-US" sz="1600" dirty="0"/>
              <a:t> </a:t>
            </a:r>
            <a:r>
              <a:rPr lang="en-US" sz="1600" dirty="0" err="1"/>
              <a:t>năng</a:t>
            </a:r>
            <a:r>
              <a:rPr lang="en-US" sz="1600" dirty="0"/>
              <a:t> </a:t>
            </a:r>
            <a:r>
              <a:rPr lang="en-US" sz="1600" dirty="0" err="1"/>
              <a:t>nhận</a:t>
            </a:r>
            <a:r>
              <a:rPr lang="en-US" sz="1600" dirty="0"/>
              <a:t> </a:t>
            </a:r>
            <a:r>
              <a:rPr lang="en-US" sz="1600" dirty="0" err="1"/>
              <a:t>diện</a:t>
            </a:r>
            <a:r>
              <a:rPr lang="en-US" sz="1600" dirty="0"/>
              <a:t> </a:t>
            </a:r>
            <a:r>
              <a:rPr lang="en-US" sz="1600" dirty="0" err="1"/>
              <a:t>chính</a:t>
            </a:r>
            <a:r>
              <a:rPr lang="en-US" sz="1600" dirty="0"/>
              <a:t> </a:t>
            </a:r>
            <a:r>
              <a:rPr lang="en-US" sz="1600" dirty="0" err="1"/>
              <a:t>xác</a:t>
            </a:r>
            <a:r>
              <a:rPr lang="en-US" sz="1600" dirty="0"/>
              <a:t> </a:t>
            </a:r>
            <a:r>
              <a:rPr lang="en-US" sz="1600" dirty="0" err="1"/>
              <a:t>biển</a:t>
            </a:r>
            <a:r>
              <a:rPr lang="en-US" sz="1600" dirty="0"/>
              <a:t> </a:t>
            </a:r>
            <a:r>
              <a:rPr lang="en-US" sz="1600" dirty="0" err="1"/>
              <a:t>báo</a:t>
            </a:r>
            <a:r>
              <a:rPr lang="en-US" sz="1600" dirty="0"/>
              <a:t> </a:t>
            </a:r>
            <a:r>
              <a:rPr lang="en-US" sz="1600" dirty="0" err="1"/>
              <a:t>giao</a:t>
            </a:r>
            <a:r>
              <a:rPr lang="en-US" sz="1600" dirty="0"/>
              <a:t> </a:t>
            </a:r>
            <a:r>
              <a:rPr lang="en-US" sz="1600" dirty="0" err="1"/>
              <a:t>thông</a:t>
            </a:r>
            <a:r>
              <a:rPr lang="en-US" sz="1600" dirty="0"/>
              <a:t> </a:t>
            </a:r>
            <a:r>
              <a:rPr lang="en-US" sz="1600" dirty="0" err="1"/>
              <a:t>Việt</a:t>
            </a:r>
            <a:r>
              <a:rPr lang="en-US" sz="1600" dirty="0"/>
              <a:t> Nam. </a:t>
            </a:r>
            <a:r>
              <a:rPr lang="en-US" sz="1600" dirty="0" err="1"/>
              <a:t>Giúp</a:t>
            </a:r>
            <a:r>
              <a:rPr lang="en-US" sz="1600" dirty="0"/>
              <a:t> </a:t>
            </a:r>
            <a:r>
              <a:rPr lang="en-US" sz="1600" dirty="0" err="1"/>
              <a:t>cải</a:t>
            </a:r>
            <a:r>
              <a:rPr lang="en-US" sz="1600" dirty="0"/>
              <a:t> </a:t>
            </a:r>
            <a:r>
              <a:rPr lang="en-US" sz="1600" dirty="0" err="1"/>
              <a:t>thiện</a:t>
            </a:r>
            <a:r>
              <a:rPr lang="en-US" sz="1600" dirty="0"/>
              <a:t> </a:t>
            </a:r>
            <a:r>
              <a:rPr lang="en-US" sz="1600" dirty="0" err="1"/>
              <a:t>giao</a:t>
            </a:r>
            <a:r>
              <a:rPr lang="en-US" sz="1600" dirty="0"/>
              <a:t> </a:t>
            </a:r>
            <a:r>
              <a:rPr lang="en-US" sz="1600" dirty="0" err="1"/>
              <a:t>thông</a:t>
            </a:r>
            <a:r>
              <a:rPr lang="en-US" sz="1600" dirty="0"/>
              <a:t> </a:t>
            </a:r>
            <a:r>
              <a:rPr lang="en-US" sz="1600" dirty="0" err="1"/>
              <a:t>đường</a:t>
            </a:r>
            <a:r>
              <a:rPr lang="en-US" sz="1600" dirty="0"/>
              <a:t> </a:t>
            </a:r>
            <a:r>
              <a:rPr lang="en-US" sz="1600" dirty="0" err="1"/>
              <a:t>bộ</a:t>
            </a:r>
            <a:r>
              <a:rPr lang="en-US" sz="1600" dirty="0"/>
              <a:t> </a:t>
            </a:r>
            <a:r>
              <a:rPr lang="en-US" sz="1600" dirty="0" err="1"/>
              <a:t>Việt</a:t>
            </a:r>
            <a:r>
              <a:rPr lang="en-US" sz="1600" dirty="0"/>
              <a:t> Nam </a:t>
            </a:r>
            <a:r>
              <a:rPr lang="en-US" sz="1600" dirty="0" err="1"/>
              <a:t>và</a:t>
            </a:r>
            <a:r>
              <a:rPr lang="en-US" sz="1600" dirty="0"/>
              <a:t> </a:t>
            </a:r>
            <a:r>
              <a:rPr lang="en-US" sz="1600" dirty="0" err="1"/>
              <a:t>hỗ</a:t>
            </a:r>
            <a:r>
              <a:rPr lang="en-US" sz="1600" dirty="0"/>
              <a:t> </a:t>
            </a:r>
            <a:r>
              <a:rPr lang="en-US" sz="1600" dirty="0" err="1"/>
              <a:t>trợ</a:t>
            </a:r>
            <a:r>
              <a:rPr lang="en-US" sz="1600" dirty="0"/>
              <a:t> </a:t>
            </a:r>
            <a:r>
              <a:rPr lang="en-US" sz="1600" dirty="0" err="1"/>
              <a:t>người</a:t>
            </a:r>
            <a:r>
              <a:rPr lang="en-US" sz="1600" dirty="0"/>
              <a:t> </a:t>
            </a:r>
            <a:r>
              <a:rPr lang="en-US" sz="1600" dirty="0" err="1"/>
              <a:t>tham</a:t>
            </a:r>
            <a:r>
              <a:rPr lang="en-US" sz="1600" dirty="0"/>
              <a:t> </a:t>
            </a:r>
            <a:r>
              <a:rPr lang="en-US" sz="1600" dirty="0" err="1"/>
              <a:t>gia</a:t>
            </a:r>
            <a:r>
              <a:rPr lang="en-US" sz="1600" dirty="0"/>
              <a:t> </a:t>
            </a:r>
            <a:r>
              <a:rPr lang="en-US" sz="1600" dirty="0" err="1"/>
              <a:t>giao</a:t>
            </a:r>
            <a:r>
              <a:rPr lang="en-US" sz="1600" dirty="0"/>
              <a:t> </a:t>
            </a:r>
            <a:r>
              <a:rPr lang="en-US" sz="1600" dirty="0" err="1"/>
              <a:t>thông</a:t>
            </a:r>
            <a:r>
              <a:rPr lang="en-US" sz="1600" dirty="0"/>
              <a:t> an </a:t>
            </a:r>
            <a:r>
              <a:rPr lang="en-US" sz="1600" dirty="0" err="1"/>
              <a:t>toàn</a:t>
            </a:r>
            <a:r>
              <a:rPr lang="en-US" sz="1600" dirty="0"/>
              <a:t> </a:t>
            </a:r>
            <a:r>
              <a:rPr lang="en-US" sz="1600" dirty="0" err="1"/>
              <a:t>nhất</a:t>
            </a:r>
            <a:r>
              <a:rPr lang="en-US" sz="1600" dirty="0"/>
              <a:t> </a:t>
            </a:r>
            <a:r>
              <a:rPr lang="en-US" sz="1600" dirty="0" err="1"/>
              <a:t>có</a:t>
            </a:r>
            <a:r>
              <a:rPr lang="en-US" sz="1600" dirty="0"/>
              <a:t> </a:t>
            </a:r>
            <a:r>
              <a:rPr lang="en-US" sz="1600" dirty="0" err="1"/>
              <a:t>thể</a:t>
            </a:r>
            <a:r>
              <a:rPr lang="en-US" sz="1600" dirty="0"/>
              <a:t>.</a:t>
            </a:r>
            <a:endParaRPr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a:off x="449468" y="1440000"/>
            <a:ext cx="8541300" cy="9852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C0C0C"/>
              </a:buClr>
              <a:buSzPts val="3200"/>
              <a:buFont typeface="Arial"/>
              <a:buNone/>
            </a:pPr>
            <a:r>
              <a:rPr lang="en-US" dirty="0"/>
              <a:t>1.2. </a:t>
            </a:r>
            <a:r>
              <a:rPr lang="en-US" dirty="0" err="1"/>
              <a:t>Động</a:t>
            </a:r>
            <a:r>
              <a:rPr lang="en-US" dirty="0"/>
              <a:t> </a:t>
            </a:r>
            <a:r>
              <a:rPr lang="en-US" dirty="0" err="1"/>
              <a:t>lực</a:t>
            </a:r>
            <a:r>
              <a:rPr lang="en-US" dirty="0"/>
              <a:t> </a:t>
            </a:r>
            <a:r>
              <a:rPr lang="en-US" dirty="0" err="1"/>
              <a:t>và</a:t>
            </a:r>
            <a:r>
              <a:rPr lang="en-US" dirty="0"/>
              <a:t> </a:t>
            </a:r>
            <a:r>
              <a:rPr lang="en-US" dirty="0" err="1"/>
              <a:t>Mục</a:t>
            </a:r>
            <a:r>
              <a:rPr lang="en-US" dirty="0"/>
              <a:t> </a:t>
            </a:r>
            <a:r>
              <a:rPr lang="en-US" dirty="0" err="1"/>
              <a:t>tiêu</a:t>
            </a:r>
            <a:endParaRPr dirty="0"/>
          </a:p>
          <a:p>
            <a:pPr marL="0" lvl="0" indent="0" algn="l" rtl="0">
              <a:lnSpc>
                <a:spcPct val="100000"/>
              </a:lnSpc>
              <a:spcBef>
                <a:spcPts val="0"/>
              </a:spcBef>
              <a:spcAft>
                <a:spcPts val="0"/>
              </a:spcAft>
              <a:buClr>
                <a:srgbClr val="0C0C0C"/>
              </a:buClr>
              <a:buSzPts val="3200"/>
              <a:buFont typeface="Arial"/>
              <a:buNone/>
            </a:pPr>
            <a:endParaRPr dirty="0"/>
          </a:p>
        </p:txBody>
      </p:sp>
      <p:sp>
        <p:nvSpPr>
          <p:cNvPr id="113" name="Google Shape;113;p15"/>
          <p:cNvSpPr txBox="1">
            <a:spLocks noGrp="1"/>
          </p:cNvSpPr>
          <p:nvPr>
            <p:ph type="body" idx="2"/>
          </p:nvPr>
        </p:nvSpPr>
        <p:spPr>
          <a:xfrm>
            <a:off x="449475" y="465439"/>
            <a:ext cx="6837900" cy="276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lt1"/>
              </a:buClr>
              <a:buSzPts val="1700"/>
              <a:buNone/>
            </a:pPr>
            <a:r>
              <a:rPr lang="en-US"/>
              <a:t>I.Giới thiệu chung</a:t>
            </a:r>
            <a:endParaRPr/>
          </a:p>
        </p:txBody>
      </p:sp>
      <p:sp>
        <p:nvSpPr>
          <p:cNvPr id="114" name="Google Shape;114;p15"/>
          <p:cNvSpPr txBox="1">
            <a:spLocks noGrp="1"/>
          </p:cNvSpPr>
          <p:nvPr>
            <p:ph type="body" idx="5"/>
          </p:nvPr>
        </p:nvSpPr>
        <p:spPr>
          <a:xfrm>
            <a:off x="522300" y="2221641"/>
            <a:ext cx="8055300" cy="1623300"/>
          </a:xfrm>
          <a:prstGeom prst="rect">
            <a:avLst/>
          </a:prstGeom>
          <a:noFill/>
          <a:ln>
            <a:noFill/>
          </a:ln>
        </p:spPr>
        <p:txBody>
          <a:bodyPr spcFirstLastPara="1" wrap="square" lIns="0" tIns="0" rIns="0" bIns="0" anchor="t" anchorCtr="0">
            <a:noAutofit/>
          </a:bodyPr>
          <a:lstStyle/>
          <a:p>
            <a:pPr marL="177746" lvl="0" indent="-211401" algn="just" rtl="0">
              <a:lnSpc>
                <a:spcPct val="115000"/>
              </a:lnSpc>
              <a:spcBef>
                <a:spcPts val="1400"/>
              </a:spcBef>
              <a:spcAft>
                <a:spcPts val="1400"/>
              </a:spcAft>
              <a:buSzPts val="2000"/>
              <a:buChar char="•"/>
            </a:pPr>
            <a:r>
              <a:rPr lang="en-US" sz="2000" dirty="0" err="1">
                <a:solidFill>
                  <a:schemeClr val="dk1"/>
                </a:solidFill>
                <a:latin typeface="+mn-lt"/>
                <a:ea typeface="Times New Roman"/>
                <a:cs typeface="Times New Roman"/>
                <a:sym typeface="Times New Roman"/>
              </a:rPr>
              <a:t>Xây</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dựng</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một</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giải</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pháp</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thông</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minh</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tích</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hợp</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giao</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diện</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trực</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quan</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để</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cung</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cấp</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thông</a:t>
            </a:r>
            <a:r>
              <a:rPr lang="en-US" sz="2000" dirty="0">
                <a:solidFill>
                  <a:schemeClr val="dk1"/>
                </a:solidFill>
                <a:latin typeface="+mn-lt"/>
                <a:ea typeface="Times New Roman"/>
                <a:cs typeface="Times New Roman"/>
                <a:sym typeface="Times New Roman"/>
              </a:rPr>
              <a:t> tin </a:t>
            </a:r>
            <a:r>
              <a:rPr lang="en-US" sz="2000" dirty="0" err="1">
                <a:solidFill>
                  <a:schemeClr val="dk1"/>
                </a:solidFill>
                <a:latin typeface="+mn-lt"/>
                <a:ea typeface="Times New Roman"/>
                <a:cs typeface="Times New Roman"/>
                <a:sym typeface="Times New Roman"/>
              </a:rPr>
              <a:t>biển</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báo</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giải</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pháp</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giáo</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dục</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biển</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báo</a:t>
            </a:r>
            <a:r>
              <a:rPr lang="en-US" sz="2000" dirty="0">
                <a:solidFill>
                  <a:schemeClr val="dk1"/>
                </a:solidFill>
                <a:latin typeface="+mn-lt"/>
                <a:ea typeface="Times New Roman"/>
                <a:cs typeface="Times New Roman"/>
                <a:sym typeface="Times New Roman"/>
              </a:rPr>
              <a:t> an </a:t>
            </a:r>
            <a:r>
              <a:rPr lang="en-US" sz="2000" dirty="0" err="1">
                <a:solidFill>
                  <a:schemeClr val="dk1"/>
                </a:solidFill>
                <a:latin typeface="+mn-lt"/>
                <a:ea typeface="Times New Roman"/>
                <a:cs typeface="Times New Roman"/>
                <a:sym typeface="Times New Roman"/>
              </a:rPr>
              <a:t>toàn</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giao</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thông</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từ</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đó</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góp</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phần</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giảm</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thiểu</a:t>
            </a:r>
            <a:r>
              <a:rPr lang="en-US" sz="2000" dirty="0">
                <a:solidFill>
                  <a:schemeClr val="dk1"/>
                </a:solidFill>
                <a:latin typeface="+mn-lt"/>
                <a:ea typeface="Times New Roman"/>
                <a:cs typeface="Times New Roman"/>
                <a:sym typeface="Times New Roman"/>
              </a:rPr>
              <a:t> vi </a:t>
            </a:r>
            <a:r>
              <a:rPr lang="en-US" sz="2000" dirty="0" err="1">
                <a:solidFill>
                  <a:schemeClr val="dk1"/>
                </a:solidFill>
                <a:latin typeface="+mn-lt"/>
                <a:ea typeface="Times New Roman"/>
                <a:cs typeface="Times New Roman"/>
                <a:sym typeface="Times New Roman"/>
              </a:rPr>
              <a:t>phạm</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giao</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thông</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nâng</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cao</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nhận</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thức</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của</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người</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lái</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xe</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và</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hỗ</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trợ</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phát</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triển</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các</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hệ</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thống</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giao</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thông</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thông</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minh</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tại</a:t>
            </a:r>
            <a:r>
              <a:rPr lang="en-US" sz="2000" dirty="0">
                <a:solidFill>
                  <a:schemeClr val="dk1"/>
                </a:solidFill>
                <a:latin typeface="+mn-lt"/>
                <a:ea typeface="Times New Roman"/>
                <a:cs typeface="Times New Roman"/>
                <a:sym typeface="Times New Roman"/>
              </a:rPr>
              <a:t> </a:t>
            </a:r>
            <a:r>
              <a:rPr lang="en-US" sz="2000" dirty="0" err="1">
                <a:solidFill>
                  <a:schemeClr val="dk1"/>
                </a:solidFill>
                <a:latin typeface="+mn-lt"/>
                <a:ea typeface="Times New Roman"/>
                <a:cs typeface="Times New Roman"/>
                <a:sym typeface="Times New Roman"/>
              </a:rPr>
              <a:t>Việt</a:t>
            </a:r>
            <a:r>
              <a:rPr lang="en-US" sz="2000" dirty="0">
                <a:solidFill>
                  <a:schemeClr val="dk1"/>
                </a:solidFill>
                <a:latin typeface="+mn-lt"/>
                <a:ea typeface="Times New Roman"/>
                <a:cs typeface="Times New Roman"/>
                <a:sym typeface="Times New Roman"/>
              </a:rPr>
              <a:t> Nam.</a:t>
            </a:r>
            <a:endParaRPr sz="2000" dirty="0">
              <a:latin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a:off x="449468" y="1440000"/>
            <a:ext cx="8541300" cy="9852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C0C0C"/>
              </a:buClr>
              <a:buSzPts val="3200"/>
              <a:buFont typeface="Arial"/>
              <a:buNone/>
            </a:pPr>
            <a:r>
              <a:rPr lang="en-US" dirty="0"/>
              <a:t>1.2. </a:t>
            </a:r>
            <a:r>
              <a:rPr lang="en-US" dirty="0" err="1"/>
              <a:t>Mục</a:t>
            </a:r>
            <a:r>
              <a:rPr lang="en-US" dirty="0"/>
              <a:t> </a:t>
            </a:r>
            <a:r>
              <a:rPr lang="en-US" dirty="0" err="1"/>
              <a:t>tiêu</a:t>
            </a:r>
            <a:endParaRPr dirty="0"/>
          </a:p>
          <a:p>
            <a:pPr marL="0" lvl="0" indent="0" algn="l" rtl="0">
              <a:lnSpc>
                <a:spcPct val="100000"/>
              </a:lnSpc>
              <a:spcBef>
                <a:spcPts val="0"/>
              </a:spcBef>
              <a:spcAft>
                <a:spcPts val="0"/>
              </a:spcAft>
              <a:buClr>
                <a:srgbClr val="0C0C0C"/>
              </a:buClr>
              <a:buSzPts val="3200"/>
              <a:buFont typeface="Arial"/>
              <a:buNone/>
            </a:pPr>
            <a:endParaRPr dirty="0"/>
          </a:p>
        </p:txBody>
      </p:sp>
      <p:sp>
        <p:nvSpPr>
          <p:cNvPr id="113" name="Google Shape;113;p15"/>
          <p:cNvSpPr txBox="1">
            <a:spLocks noGrp="1"/>
          </p:cNvSpPr>
          <p:nvPr>
            <p:ph type="body" idx="2"/>
          </p:nvPr>
        </p:nvSpPr>
        <p:spPr>
          <a:xfrm>
            <a:off x="449475" y="465439"/>
            <a:ext cx="6837900" cy="276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lt1"/>
              </a:buClr>
              <a:buSzPts val="1700"/>
              <a:buNone/>
            </a:pPr>
            <a:r>
              <a:rPr lang="en-US"/>
              <a:t>I.Giới thiệu chung</a:t>
            </a:r>
            <a:endParaRPr/>
          </a:p>
        </p:txBody>
      </p:sp>
      <p:sp>
        <p:nvSpPr>
          <p:cNvPr id="114" name="Google Shape;114;p15"/>
          <p:cNvSpPr txBox="1">
            <a:spLocks noGrp="1"/>
          </p:cNvSpPr>
          <p:nvPr>
            <p:ph type="body" idx="5"/>
          </p:nvPr>
        </p:nvSpPr>
        <p:spPr>
          <a:xfrm>
            <a:off x="522300" y="2221641"/>
            <a:ext cx="8055300" cy="1623300"/>
          </a:xfrm>
          <a:prstGeom prst="rect">
            <a:avLst/>
          </a:prstGeom>
          <a:noFill/>
          <a:ln>
            <a:noFill/>
          </a:ln>
        </p:spPr>
        <p:txBody>
          <a:bodyPr spcFirstLastPara="1" wrap="square" lIns="0" tIns="0" rIns="0" bIns="0" anchor="t" anchorCtr="0">
            <a:noAutofit/>
          </a:bodyPr>
          <a:lstStyle/>
          <a:p>
            <a:pPr marL="177746" lvl="0" indent="-211401" algn="just" rtl="0">
              <a:lnSpc>
                <a:spcPct val="115000"/>
              </a:lnSpc>
              <a:spcBef>
                <a:spcPts val="1400"/>
              </a:spcBef>
              <a:spcAft>
                <a:spcPts val="1400"/>
              </a:spcAft>
              <a:buSzPts val="2000"/>
              <a:buChar char="•"/>
            </a:pPr>
            <a:r>
              <a:rPr lang="vi-VN" sz="2000" dirty="0"/>
              <a:t>Xây dựng tập dữ liệu huấn luyện mô hình bao gồm các hình ảnh biển báo giao thông, được gán nhãn đầy đủ chính xác</a:t>
            </a:r>
          </a:p>
          <a:p>
            <a:pPr marL="177746" lvl="0" indent="-211401" algn="just" rtl="0">
              <a:lnSpc>
                <a:spcPct val="115000"/>
              </a:lnSpc>
              <a:spcBef>
                <a:spcPts val="1400"/>
              </a:spcBef>
              <a:spcAft>
                <a:spcPts val="1400"/>
              </a:spcAft>
              <a:buSzPts val="2000"/>
              <a:buChar char="•"/>
            </a:pPr>
            <a:r>
              <a:rPr lang="vi-VN" sz="2000" dirty="0"/>
              <a:t>Ứng dụng mô hình YOLOv8 để xây dựng hệ thống có khả năng nhận diện và phân loại các biển báo theo thời gian thực</a:t>
            </a:r>
          </a:p>
          <a:p>
            <a:pPr marL="177746" lvl="0" indent="-211401" algn="just" rtl="0">
              <a:lnSpc>
                <a:spcPct val="115000"/>
              </a:lnSpc>
              <a:spcBef>
                <a:spcPts val="1400"/>
              </a:spcBef>
              <a:spcAft>
                <a:spcPts val="1400"/>
              </a:spcAft>
              <a:buSzPts val="2000"/>
              <a:buChar char="•"/>
            </a:pPr>
            <a:r>
              <a:rPr lang="vi-VN" sz="2000" dirty="0"/>
              <a:t>Cải tiến và mở rộng mô hình để ứng dụng vào các hệ thống thực tế như camera hành trình, hệ thống hỗ trợ người lái ...</a:t>
            </a:r>
            <a:endParaRPr sz="2000" dirty="0"/>
          </a:p>
        </p:txBody>
      </p:sp>
    </p:spTree>
    <p:extLst>
      <p:ext uri="{BB962C8B-B14F-4D97-AF65-F5344CB8AC3E}">
        <p14:creationId xmlns:p14="http://schemas.microsoft.com/office/powerpoint/2010/main" val="23683100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449468" y="1440000"/>
            <a:ext cx="8541300" cy="492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C0C0C"/>
              </a:buClr>
              <a:buSzPts val="3200"/>
              <a:buFont typeface="Arial"/>
              <a:buNone/>
            </a:pPr>
            <a:r>
              <a:rPr lang="en-US"/>
              <a:t>1.3. Thành viên và phân công công việc</a:t>
            </a:r>
            <a:endParaRPr/>
          </a:p>
        </p:txBody>
      </p:sp>
      <p:sp>
        <p:nvSpPr>
          <p:cNvPr id="120" name="Google Shape;120;p16"/>
          <p:cNvSpPr txBox="1">
            <a:spLocks noGrp="1"/>
          </p:cNvSpPr>
          <p:nvPr>
            <p:ph type="body" idx="2"/>
          </p:nvPr>
        </p:nvSpPr>
        <p:spPr>
          <a:xfrm>
            <a:off x="449475" y="465439"/>
            <a:ext cx="6837900" cy="276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lt1"/>
              </a:buClr>
              <a:buSzPts val="1700"/>
              <a:buNone/>
            </a:pPr>
            <a:r>
              <a:rPr lang="en-US"/>
              <a:t>I.Giới thiệu chung</a:t>
            </a:r>
            <a:endParaRPr/>
          </a:p>
        </p:txBody>
      </p:sp>
      <p:sp>
        <p:nvSpPr>
          <p:cNvPr id="121" name="Google Shape;121;p16"/>
          <p:cNvSpPr txBox="1">
            <a:spLocks noGrp="1"/>
          </p:cNvSpPr>
          <p:nvPr>
            <p:ph type="body" idx="5"/>
          </p:nvPr>
        </p:nvSpPr>
        <p:spPr>
          <a:xfrm>
            <a:off x="522300" y="2221625"/>
            <a:ext cx="8328000" cy="3515146"/>
          </a:xfrm>
          <a:prstGeom prst="rect">
            <a:avLst/>
          </a:prstGeom>
          <a:noFill/>
          <a:ln>
            <a:noFill/>
          </a:ln>
        </p:spPr>
        <p:txBody>
          <a:bodyPr spcFirstLastPara="1" wrap="square" lIns="0" tIns="0" rIns="0" bIns="0" anchor="t" anchorCtr="0">
            <a:noAutofit/>
          </a:bodyPr>
          <a:lstStyle/>
          <a:p>
            <a:pPr marL="177746" lvl="0" indent="-177746" algn="l" rtl="0">
              <a:lnSpc>
                <a:spcPct val="128571"/>
              </a:lnSpc>
              <a:spcBef>
                <a:spcPts val="0"/>
              </a:spcBef>
              <a:spcAft>
                <a:spcPts val="0"/>
              </a:spcAft>
              <a:buClr>
                <a:srgbClr val="262626"/>
              </a:buClr>
              <a:buSzPts val="1470"/>
              <a:buFont typeface="Arial"/>
              <a:buChar char="•"/>
            </a:pPr>
            <a:r>
              <a:rPr lang="en-US" dirty="0" err="1"/>
              <a:t>Vũ</a:t>
            </a:r>
            <a:r>
              <a:rPr lang="en-US" dirty="0"/>
              <a:t> Minh </a:t>
            </a:r>
            <a:r>
              <a:rPr lang="en-US" dirty="0" err="1"/>
              <a:t>Đức</a:t>
            </a:r>
            <a:r>
              <a:rPr lang="en-US" dirty="0"/>
              <a:t> (</a:t>
            </a:r>
            <a:r>
              <a:rPr lang="en-US" dirty="0" err="1"/>
              <a:t>trưởng</a:t>
            </a:r>
            <a:r>
              <a:rPr lang="en-US" dirty="0"/>
              <a:t> </a:t>
            </a:r>
            <a:r>
              <a:rPr lang="en-US" dirty="0" err="1"/>
              <a:t>nhóm</a:t>
            </a:r>
            <a:r>
              <a:rPr lang="en-US" dirty="0"/>
              <a:t>)</a:t>
            </a:r>
            <a:endParaRPr dirty="0"/>
          </a:p>
          <a:p>
            <a:pPr marL="177746" lvl="0" indent="0" algn="l" rtl="0">
              <a:lnSpc>
                <a:spcPct val="128571"/>
              </a:lnSpc>
              <a:spcBef>
                <a:spcPts val="0"/>
              </a:spcBef>
              <a:spcAft>
                <a:spcPts val="0"/>
              </a:spcAft>
              <a:buNone/>
            </a:pPr>
            <a:r>
              <a:rPr lang="en-US" dirty="0" err="1"/>
              <a:t>Lên</a:t>
            </a:r>
            <a:r>
              <a:rPr lang="en-US" dirty="0"/>
              <a:t> ý </a:t>
            </a:r>
            <a:r>
              <a:rPr lang="en-US" dirty="0" err="1"/>
              <a:t>tưởng</a:t>
            </a:r>
            <a:r>
              <a:rPr lang="en-US" dirty="0"/>
              <a:t>, </a:t>
            </a:r>
            <a:r>
              <a:rPr lang="en-US" dirty="0" err="1"/>
              <a:t>quản</a:t>
            </a:r>
            <a:r>
              <a:rPr lang="en-US" dirty="0"/>
              <a:t> </a:t>
            </a:r>
            <a:r>
              <a:rPr lang="en-US" dirty="0" err="1"/>
              <a:t>lý</a:t>
            </a:r>
            <a:r>
              <a:rPr lang="en-US" dirty="0"/>
              <a:t> </a:t>
            </a:r>
            <a:r>
              <a:rPr lang="en-US" dirty="0" err="1"/>
              <a:t>dự</a:t>
            </a:r>
            <a:r>
              <a:rPr lang="en-US" dirty="0"/>
              <a:t> </a:t>
            </a:r>
            <a:r>
              <a:rPr lang="en-US" dirty="0" err="1"/>
              <a:t>án</a:t>
            </a:r>
            <a:r>
              <a:rPr lang="en-US" dirty="0"/>
              <a:t> (</a:t>
            </a:r>
            <a:r>
              <a:rPr lang="en-US" dirty="0" err="1"/>
              <a:t>lộ</a:t>
            </a:r>
            <a:r>
              <a:rPr lang="en-US" dirty="0"/>
              <a:t> </a:t>
            </a:r>
            <a:r>
              <a:rPr lang="en-US" dirty="0" err="1"/>
              <a:t>trình</a:t>
            </a:r>
            <a:r>
              <a:rPr lang="en-US" dirty="0"/>
              <a:t> </a:t>
            </a:r>
            <a:r>
              <a:rPr lang="en-US" dirty="0" err="1"/>
              <a:t>phát</a:t>
            </a:r>
            <a:r>
              <a:rPr lang="en-US" dirty="0"/>
              <a:t> </a:t>
            </a:r>
            <a:r>
              <a:rPr lang="en-US" dirty="0" err="1"/>
              <a:t>triển</a:t>
            </a:r>
            <a:r>
              <a:rPr lang="en-US" dirty="0"/>
              <a:t> </a:t>
            </a:r>
            <a:r>
              <a:rPr lang="en-US" dirty="0" err="1"/>
              <a:t>dự</a:t>
            </a:r>
            <a:r>
              <a:rPr lang="en-US" dirty="0"/>
              <a:t> </a:t>
            </a:r>
            <a:r>
              <a:rPr lang="en-US" dirty="0" err="1"/>
              <a:t>án</a:t>
            </a:r>
            <a:r>
              <a:rPr lang="en-US" dirty="0"/>
              <a:t>), </a:t>
            </a:r>
            <a:r>
              <a:rPr lang="en-US" dirty="0" err="1"/>
              <a:t>tìm</a:t>
            </a:r>
            <a:r>
              <a:rPr lang="en-US" dirty="0"/>
              <a:t> </a:t>
            </a:r>
            <a:r>
              <a:rPr lang="en-US" dirty="0" err="1"/>
              <a:t>kiếm</a:t>
            </a:r>
            <a:r>
              <a:rPr lang="en-US" dirty="0"/>
              <a:t> </a:t>
            </a:r>
            <a:r>
              <a:rPr lang="en-US" dirty="0" err="1"/>
              <a:t>tài</a:t>
            </a:r>
            <a:r>
              <a:rPr lang="en-US" dirty="0"/>
              <a:t> </a:t>
            </a:r>
            <a:r>
              <a:rPr lang="en-US" dirty="0" err="1"/>
              <a:t>liệu</a:t>
            </a:r>
            <a:r>
              <a:rPr lang="en-US" dirty="0"/>
              <a:t> </a:t>
            </a:r>
            <a:r>
              <a:rPr lang="en-US" dirty="0" err="1"/>
              <a:t>và</a:t>
            </a:r>
            <a:r>
              <a:rPr lang="en-US" dirty="0"/>
              <a:t> </a:t>
            </a:r>
            <a:r>
              <a:rPr lang="en-US" dirty="0" err="1"/>
              <a:t>thông</a:t>
            </a:r>
            <a:r>
              <a:rPr lang="en-US" dirty="0"/>
              <a:t> tin; </a:t>
            </a:r>
            <a:r>
              <a:rPr lang="en-US" dirty="0" err="1"/>
              <a:t>Quản</a:t>
            </a:r>
            <a:r>
              <a:rPr lang="en-US" dirty="0"/>
              <a:t> </a:t>
            </a:r>
            <a:r>
              <a:rPr lang="en-US" dirty="0" err="1"/>
              <a:t>lý</a:t>
            </a:r>
            <a:r>
              <a:rPr lang="en-US" dirty="0"/>
              <a:t> </a:t>
            </a:r>
            <a:r>
              <a:rPr lang="en-US" dirty="0" err="1"/>
              <a:t>xây</a:t>
            </a:r>
            <a:r>
              <a:rPr lang="en-US" dirty="0"/>
              <a:t> </a:t>
            </a:r>
            <a:r>
              <a:rPr lang="en-US" dirty="0" err="1"/>
              <a:t>dựng</a:t>
            </a:r>
            <a:r>
              <a:rPr lang="en-US" dirty="0"/>
              <a:t> </a:t>
            </a:r>
            <a:r>
              <a:rPr lang="en-US" dirty="0" err="1"/>
              <a:t>tài</a:t>
            </a:r>
            <a:r>
              <a:rPr lang="en-US" dirty="0"/>
              <a:t> </a:t>
            </a:r>
            <a:r>
              <a:rPr lang="en-US" dirty="0" err="1"/>
              <a:t>liệu</a:t>
            </a:r>
            <a:r>
              <a:rPr lang="en-US" dirty="0"/>
              <a:t> </a:t>
            </a:r>
            <a:r>
              <a:rPr lang="en-US" dirty="0" err="1"/>
              <a:t>nghiên</a:t>
            </a:r>
            <a:r>
              <a:rPr lang="en-US" dirty="0"/>
              <a:t> </a:t>
            </a:r>
            <a:r>
              <a:rPr lang="en-US" dirty="0" err="1"/>
              <a:t>cứu</a:t>
            </a:r>
            <a:endParaRPr dirty="0"/>
          </a:p>
          <a:p>
            <a:pPr marL="177746" lvl="0" indent="0" algn="l" rtl="0">
              <a:lnSpc>
                <a:spcPct val="128571"/>
              </a:lnSpc>
              <a:spcBef>
                <a:spcPts val="0"/>
              </a:spcBef>
              <a:spcAft>
                <a:spcPts val="0"/>
              </a:spcAft>
              <a:buNone/>
            </a:pPr>
            <a:endParaRPr dirty="0"/>
          </a:p>
          <a:p>
            <a:pPr marL="177746" lvl="0" indent="-177746" algn="l" rtl="0">
              <a:lnSpc>
                <a:spcPct val="128571"/>
              </a:lnSpc>
              <a:spcBef>
                <a:spcPts val="0"/>
              </a:spcBef>
              <a:spcAft>
                <a:spcPts val="0"/>
              </a:spcAft>
              <a:buClr>
                <a:srgbClr val="262626"/>
              </a:buClr>
              <a:buSzPts val="1470"/>
              <a:buFont typeface="Arial"/>
              <a:buChar char="•"/>
            </a:pPr>
            <a:r>
              <a:rPr lang="en-US" dirty="0" err="1"/>
              <a:t>Đặng</a:t>
            </a:r>
            <a:r>
              <a:rPr lang="en-US" dirty="0"/>
              <a:t> </a:t>
            </a:r>
            <a:r>
              <a:rPr lang="en-US" dirty="0" err="1"/>
              <a:t>Hoàng</a:t>
            </a:r>
            <a:r>
              <a:rPr lang="en-US" dirty="0"/>
              <a:t> An </a:t>
            </a:r>
            <a:endParaRPr dirty="0"/>
          </a:p>
          <a:p>
            <a:pPr marL="177746" lvl="0" indent="0" algn="l" rtl="0">
              <a:lnSpc>
                <a:spcPct val="128571"/>
              </a:lnSpc>
              <a:spcBef>
                <a:spcPts val="0"/>
              </a:spcBef>
              <a:spcAft>
                <a:spcPts val="0"/>
              </a:spcAft>
              <a:buNone/>
            </a:pPr>
            <a:r>
              <a:rPr lang="vi-VN" dirty="0"/>
              <a:t>Thu thập data; Xây dựng tài liệu; Phát triển dự án; Kiểm thử dự án</a:t>
            </a:r>
            <a:endParaRPr dirty="0"/>
          </a:p>
          <a:p>
            <a:pPr marL="177746" lvl="0" indent="0" algn="l" rtl="0">
              <a:lnSpc>
                <a:spcPct val="128571"/>
              </a:lnSpc>
              <a:spcBef>
                <a:spcPts val="0"/>
              </a:spcBef>
              <a:spcAft>
                <a:spcPts val="0"/>
              </a:spcAft>
              <a:buNone/>
            </a:pPr>
            <a:endParaRPr dirty="0"/>
          </a:p>
          <a:p>
            <a:pPr marL="177746" lvl="0" indent="-177746" algn="l" rtl="0">
              <a:lnSpc>
                <a:spcPct val="128571"/>
              </a:lnSpc>
              <a:spcBef>
                <a:spcPts val="0"/>
              </a:spcBef>
              <a:spcAft>
                <a:spcPts val="0"/>
              </a:spcAft>
              <a:buClr>
                <a:srgbClr val="262626"/>
              </a:buClr>
              <a:buSzPts val="1470"/>
              <a:buFont typeface="Arial"/>
              <a:buChar char="•"/>
            </a:pPr>
            <a:r>
              <a:rPr lang="en-US" dirty="0" err="1"/>
              <a:t>Trần</a:t>
            </a:r>
            <a:r>
              <a:rPr lang="en-US" dirty="0"/>
              <a:t> </a:t>
            </a:r>
            <a:r>
              <a:rPr lang="en-US" dirty="0" err="1"/>
              <a:t>Trọng</a:t>
            </a:r>
            <a:r>
              <a:rPr lang="en-US" dirty="0"/>
              <a:t> </a:t>
            </a:r>
            <a:r>
              <a:rPr lang="en-US" dirty="0" err="1"/>
              <a:t>Hoàn</a:t>
            </a:r>
            <a:endParaRPr lang="en-US" dirty="0"/>
          </a:p>
          <a:p>
            <a:pPr marL="0" lvl="0" indent="0" algn="l" rtl="0">
              <a:lnSpc>
                <a:spcPct val="128571"/>
              </a:lnSpc>
              <a:spcBef>
                <a:spcPts val="0"/>
              </a:spcBef>
              <a:spcAft>
                <a:spcPts val="0"/>
              </a:spcAft>
              <a:buClr>
                <a:srgbClr val="262626"/>
              </a:buClr>
              <a:buSzPts val="1470"/>
              <a:buNone/>
            </a:pPr>
            <a:r>
              <a:rPr lang="en-US" dirty="0"/>
              <a:t>    Thu </a:t>
            </a:r>
            <a:r>
              <a:rPr lang="en-US" dirty="0" err="1"/>
              <a:t>thập</a:t>
            </a:r>
            <a:r>
              <a:rPr lang="en-US" dirty="0"/>
              <a:t> data; </a:t>
            </a:r>
            <a:r>
              <a:rPr lang="en-US" dirty="0" err="1"/>
              <a:t>Xây</a:t>
            </a:r>
            <a:r>
              <a:rPr lang="en-US" dirty="0"/>
              <a:t> </a:t>
            </a:r>
            <a:r>
              <a:rPr lang="en-US" dirty="0" err="1"/>
              <a:t>dựng</a:t>
            </a:r>
            <a:r>
              <a:rPr lang="en-US" dirty="0"/>
              <a:t> tai </a:t>
            </a:r>
            <a:r>
              <a:rPr lang="en-US" dirty="0" err="1"/>
              <a:t>liệu</a:t>
            </a:r>
            <a:r>
              <a:rPr lang="en-US" dirty="0"/>
              <a:t>; </a:t>
            </a:r>
            <a:r>
              <a:rPr lang="en-US" dirty="0" err="1"/>
              <a:t>Phát</a:t>
            </a:r>
            <a:r>
              <a:rPr lang="en-US" dirty="0"/>
              <a:t> </a:t>
            </a:r>
            <a:r>
              <a:rPr lang="en-US" dirty="0" err="1"/>
              <a:t>triển</a:t>
            </a:r>
            <a:r>
              <a:rPr lang="en-US" dirty="0"/>
              <a:t> </a:t>
            </a:r>
            <a:r>
              <a:rPr lang="en-US" dirty="0" err="1"/>
              <a:t>dự</a:t>
            </a:r>
            <a:r>
              <a:rPr lang="en-US" dirty="0"/>
              <a:t> </a:t>
            </a:r>
            <a:r>
              <a:rPr lang="en-US" dirty="0" err="1"/>
              <a:t>án</a:t>
            </a:r>
            <a:r>
              <a:rPr lang="en-US" dirty="0"/>
              <a:t>; </a:t>
            </a:r>
            <a:r>
              <a:rPr lang="en-US" dirty="0" err="1"/>
              <a:t>Kiểm</a:t>
            </a:r>
            <a:r>
              <a:rPr lang="en-US" dirty="0"/>
              <a:t> </a:t>
            </a:r>
            <a:r>
              <a:rPr lang="en-US" dirty="0" err="1"/>
              <a:t>thử</a:t>
            </a:r>
            <a:r>
              <a:rPr lang="en-US" dirty="0"/>
              <a:t> </a:t>
            </a:r>
            <a:r>
              <a:rPr lang="en-US" dirty="0" err="1"/>
              <a:t>dự</a:t>
            </a:r>
            <a:r>
              <a:rPr lang="en-US" dirty="0"/>
              <a:t> </a:t>
            </a:r>
            <a:r>
              <a:rPr lang="en-US" dirty="0" err="1"/>
              <a:t>án</a:t>
            </a:r>
            <a:endParaRPr lang="en-US" dirty="0"/>
          </a:p>
          <a:p>
            <a:pPr marL="177746" lvl="0" indent="-177746" algn="l" rtl="0">
              <a:lnSpc>
                <a:spcPct val="128571"/>
              </a:lnSpc>
              <a:spcBef>
                <a:spcPts val="0"/>
              </a:spcBef>
              <a:spcAft>
                <a:spcPts val="0"/>
              </a:spcAft>
              <a:buClr>
                <a:srgbClr val="262626"/>
              </a:buClr>
              <a:buSzPts val="1470"/>
              <a:buFont typeface="Arial"/>
              <a:buChar char="•"/>
            </a:pPr>
            <a:endParaRPr dirty="0"/>
          </a:p>
          <a:p>
            <a:pPr marL="177746" lvl="0" indent="0" algn="l" rtl="0">
              <a:lnSpc>
                <a:spcPct val="128571"/>
              </a:lnSpc>
              <a:spcBef>
                <a:spcPts val="0"/>
              </a:spcBef>
              <a:spcAft>
                <a:spcPts val="0"/>
              </a:spcAft>
              <a:buNone/>
            </a:pPr>
            <a:endParaRPr dirty="0"/>
          </a:p>
          <a:p>
            <a:pPr marL="177746" lvl="0" indent="0" algn="l" rtl="0">
              <a:lnSpc>
                <a:spcPct val="128571"/>
              </a:lnSpc>
              <a:spcBef>
                <a:spcPts val="0"/>
              </a:spcBef>
              <a:spcAft>
                <a:spcPts val="0"/>
              </a:spcAft>
              <a:buNone/>
            </a:pPr>
            <a:endParaRPr dirty="0"/>
          </a:p>
          <a:p>
            <a:pPr marL="177746" lvl="0" indent="0" algn="l" rtl="0">
              <a:lnSpc>
                <a:spcPct val="128571"/>
              </a:lnSpc>
              <a:spcBef>
                <a:spcPts val="0"/>
              </a:spcBef>
              <a:spcAft>
                <a:spcPts val="0"/>
              </a:spcAft>
              <a:buNone/>
            </a:pP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9"/>
          <p:cNvSpPr txBox="1">
            <a:spLocks noGrp="1"/>
          </p:cNvSpPr>
          <p:nvPr>
            <p:ph type="title"/>
          </p:nvPr>
        </p:nvSpPr>
        <p:spPr>
          <a:xfrm>
            <a:off x="449468" y="1440000"/>
            <a:ext cx="8541300" cy="492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C0C0C"/>
              </a:buClr>
              <a:buSzPts val="3200"/>
              <a:buFont typeface="Arial"/>
              <a:buNone/>
            </a:pPr>
            <a:r>
              <a:rPr lang="en-US"/>
              <a:t>2.2. Chi tiết quá trình làm việc</a:t>
            </a:r>
            <a:endParaRPr/>
          </a:p>
        </p:txBody>
      </p:sp>
      <p:sp>
        <p:nvSpPr>
          <p:cNvPr id="143" name="Google Shape;143;p19"/>
          <p:cNvSpPr txBox="1">
            <a:spLocks noGrp="1"/>
          </p:cNvSpPr>
          <p:nvPr>
            <p:ph type="body" idx="2"/>
          </p:nvPr>
        </p:nvSpPr>
        <p:spPr>
          <a:xfrm>
            <a:off x="522300" y="450000"/>
            <a:ext cx="7105500" cy="553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lt1"/>
              </a:buClr>
              <a:buSzPts val="1700"/>
              <a:buNone/>
            </a:pPr>
            <a:r>
              <a:rPr lang="en-US"/>
              <a:t>II. Triển khai dự án</a:t>
            </a:r>
            <a:endParaRPr/>
          </a:p>
          <a:p>
            <a:pPr marL="0" lvl="0" indent="0" algn="l" rtl="0">
              <a:lnSpc>
                <a:spcPct val="100000"/>
              </a:lnSpc>
              <a:spcBef>
                <a:spcPts val="0"/>
              </a:spcBef>
              <a:spcAft>
                <a:spcPts val="0"/>
              </a:spcAft>
              <a:buClr>
                <a:schemeClr val="lt1"/>
              </a:buClr>
              <a:buSzPts val="1700"/>
              <a:buNone/>
            </a:pPr>
            <a:endParaRPr/>
          </a:p>
        </p:txBody>
      </p:sp>
      <p:sp>
        <p:nvSpPr>
          <p:cNvPr id="144" name="Google Shape;144;p19"/>
          <p:cNvSpPr txBox="1">
            <a:spLocks noGrp="1"/>
          </p:cNvSpPr>
          <p:nvPr>
            <p:ph type="body" idx="5"/>
          </p:nvPr>
        </p:nvSpPr>
        <p:spPr>
          <a:xfrm>
            <a:off x="522300" y="2221625"/>
            <a:ext cx="8931300" cy="3730800"/>
          </a:xfrm>
          <a:prstGeom prst="rect">
            <a:avLst/>
          </a:prstGeom>
          <a:noFill/>
          <a:ln>
            <a:noFill/>
          </a:ln>
        </p:spPr>
        <p:txBody>
          <a:bodyPr spcFirstLastPara="1" wrap="square" lIns="0" tIns="0" rIns="0" bIns="0" anchor="t" anchorCtr="0">
            <a:noAutofit/>
          </a:bodyPr>
          <a:lstStyle/>
          <a:p>
            <a:pPr marL="177746" lvl="0" indent="-177746" algn="l" rtl="0">
              <a:lnSpc>
                <a:spcPct val="128571"/>
              </a:lnSpc>
              <a:spcBef>
                <a:spcPts val="0"/>
              </a:spcBef>
              <a:spcAft>
                <a:spcPts val="0"/>
              </a:spcAft>
              <a:buClr>
                <a:srgbClr val="262626"/>
              </a:buClr>
              <a:buSzPts val="1470"/>
              <a:buFont typeface="Arial"/>
              <a:buChar char="•"/>
            </a:pPr>
            <a:r>
              <a:rPr lang="vi-VN" dirty="0"/>
              <a:t>Thu thập dữ liệu</a:t>
            </a:r>
          </a:p>
          <a:p>
            <a:pPr marL="177746" lvl="0" indent="-177746" algn="l" rtl="0">
              <a:lnSpc>
                <a:spcPct val="128571"/>
              </a:lnSpc>
              <a:spcBef>
                <a:spcPts val="0"/>
              </a:spcBef>
              <a:spcAft>
                <a:spcPts val="0"/>
              </a:spcAft>
              <a:buClr>
                <a:srgbClr val="262626"/>
              </a:buClr>
              <a:buSzPts val="1470"/>
              <a:buFont typeface="Arial"/>
              <a:buChar char="•"/>
            </a:pPr>
            <a:r>
              <a:rPr lang="vi-VN" dirty="0"/>
              <a:t>Tiền xử lý và gán nhãn dữ liệu</a:t>
            </a:r>
          </a:p>
          <a:p>
            <a:pPr marL="177746" lvl="0" indent="-177746" algn="l" rtl="0">
              <a:lnSpc>
                <a:spcPct val="128571"/>
              </a:lnSpc>
              <a:spcBef>
                <a:spcPts val="0"/>
              </a:spcBef>
              <a:spcAft>
                <a:spcPts val="0"/>
              </a:spcAft>
              <a:buClr>
                <a:srgbClr val="262626"/>
              </a:buClr>
              <a:buSzPts val="1470"/>
              <a:buFont typeface="Arial"/>
              <a:buChar char="•"/>
            </a:pPr>
            <a:r>
              <a:rPr lang="vi-VN" dirty="0"/>
              <a:t>Phân chia dữ liệu</a:t>
            </a:r>
          </a:p>
          <a:p>
            <a:pPr marL="177746" lvl="0" indent="-177746" algn="l" rtl="0">
              <a:lnSpc>
                <a:spcPct val="128571"/>
              </a:lnSpc>
              <a:spcBef>
                <a:spcPts val="0"/>
              </a:spcBef>
              <a:spcAft>
                <a:spcPts val="0"/>
              </a:spcAft>
              <a:buClr>
                <a:srgbClr val="262626"/>
              </a:buClr>
              <a:buSzPts val="1470"/>
              <a:buFont typeface="Arial"/>
              <a:buChar char="•"/>
            </a:pPr>
            <a:r>
              <a:rPr lang="vi-VN" dirty="0"/>
              <a:t>Xây dựng mã nguồn</a:t>
            </a:r>
          </a:p>
          <a:p>
            <a:pPr marL="177746" lvl="0" indent="-177746" algn="l" rtl="0">
              <a:lnSpc>
                <a:spcPct val="128571"/>
              </a:lnSpc>
              <a:spcBef>
                <a:spcPts val="0"/>
              </a:spcBef>
              <a:spcAft>
                <a:spcPts val="0"/>
              </a:spcAft>
              <a:buClr>
                <a:srgbClr val="262626"/>
              </a:buClr>
              <a:buSzPts val="1470"/>
              <a:buFont typeface="Arial"/>
              <a:buChar char="•"/>
            </a:pPr>
            <a:r>
              <a:rPr lang="vi-VN" dirty="0"/>
              <a:t>Huấn luyện mô hình</a:t>
            </a:r>
          </a:p>
          <a:p>
            <a:pPr marL="177746" lvl="0" indent="-177746" algn="l" rtl="0">
              <a:lnSpc>
                <a:spcPct val="128571"/>
              </a:lnSpc>
              <a:spcBef>
                <a:spcPts val="0"/>
              </a:spcBef>
              <a:spcAft>
                <a:spcPts val="0"/>
              </a:spcAft>
              <a:buClr>
                <a:srgbClr val="262626"/>
              </a:buClr>
              <a:buSzPts val="1470"/>
              <a:buFont typeface="Arial"/>
              <a:buChar char="•"/>
            </a:pPr>
            <a:r>
              <a:rPr lang="vi-VN" dirty="0"/>
              <a:t>Xây dựng hệ thống nhận diện</a:t>
            </a:r>
          </a:p>
          <a:p>
            <a:pPr marL="177746" lvl="0" indent="0" algn="l" rtl="0">
              <a:lnSpc>
                <a:spcPct val="128571"/>
              </a:lnSpc>
              <a:spcBef>
                <a:spcPts val="0"/>
              </a:spcBef>
              <a:spcAft>
                <a:spcPts val="0"/>
              </a:spcAft>
              <a:buNone/>
            </a:pPr>
            <a:endParaRPr lang="vi-VN" dirty="0"/>
          </a:p>
          <a:p>
            <a:pPr marL="177746" lvl="0" indent="0" algn="l" rtl="0">
              <a:lnSpc>
                <a:spcPct val="128571"/>
              </a:lnSpc>
              <a:spcBef>
                <a:spcPts val="0"/>
              </a:spcBef>
              <a:spcAft>
                <a:spcPts val="0"/>
              </a:spcAft>
              <a:buNone/>
            </a:pPr>
            <a:endParaRPr lang="vi-VN" dirty="0"/>
          </a:p>
        </p:txBody>
      </p:sp>
      <p:graphicFrame>
        <p:nvGraphicFramePr>
          <p:cNvPr id="2" name="Table 1">
            <a:extLst>
              <a:ext uri="{FF2B5EF4-FFF2-40B4-BE49-F238E27FC236}">
                <a16:creationId xmlns:a16="http://schemas.microsoft.com/office/drawing/2014/main" id="{903C26E0-43C2-5148-A14A-3E358F37EB60}"/>
              </a:ext>
            </a:extLst>
          </p:cNvPr>
          <p:cNvGraphicFramePr>
            <a:graphicFrameLocks noGrp="1"/>
          </p:cNvGraphicFramePr>
          <p:nvPr>
            <p:extLst>
              <p:ext uri="{D42A27DB-BD31-4B8C-83A1-F6EECF244321}">
                <p14:modId xmlns:p14="http://schemas.microsoft.com/office/powerpoint/2010/main" val="2732421591"/>
              </p:ext>
            </p:extLst>
          </p:nvPr>
        </p:nvGraphicFramePr>
        <p:xfrm>
          <a:off x="3847295" y="2101904"/>
          <a:ext cx="5725160" cy="4160520"/>
        </p:xfrm>
        <a:graphic>
          <a:graphicData uri="http://schemas.openxmlformats.org/drawingml/2006/table">
            <a:tbl>
              <a:tblPr firstRow="1" firstCol="1" bandRow="1"/>
              <a:tblGrid>
                <a:gridCol w="5725160">
                  <a:extLst>
                    <a:ext uri="{9D8B030D-6E8A-4147-A177-3AD203B41FA5}">
                      <a16:colId xmlns:a16="http://schemas.microsoft.com/office/drawing/2014/main" val="4290062947"/>
                    </a:ext>
                  </a:extLst>
                </a:gridCol>
              </a:tblGrid>
              <a:tr h="0">
                <a:tc>
                  <a:txBody>
                    <a:bodyPr/>
                    <a:lstStyle/>
                    <a:p>
                      <a:pPr algn="l" latinLnBrk="1"/>
                      <a:r>
                        <a:rPr lang="en-US" sz="1300" b="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Traffic-Sign-Detection/</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all_weight</a:t>
                      </a:r>
                      <a:r>
                        <a:rPr lang="en-US" sz="1300" b="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Th</a:t>
                      </a:r>
                      <a:r>
                        <a:rPr lang="en-US" sz="1000" i="1" kern="100" dirty="0" err="1">
                          <a:solidFill>
                            <a:srgbClr val="0D0D0D"/>
                          </a:solidFill>
                          <a:effectLst/>
                          <a:latin typeface="Consolas" panose="020B0609020204030204" pitchFamily="49" charset="0"/>
                          <a:ea typeface="Malgun Gothic" panose="020B0503020000020004" pitchFamily="34" charset="-127"/>
                          <a:cs typeface="___WRD_EMBED_SUB_43"/>
                        </a:rPr>
                        <a:t>ư</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mục</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trọng</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số</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đã</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huấn</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luyện</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dataset/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Dữ</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liệu</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gốc</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và</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cấu</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hình</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YOLO</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train/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Tập</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dữ</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liệu</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huấn</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luyện</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valid/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Tập</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dữ</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liệu</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kiểm</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tra</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test/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Tập</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dữ</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liệu</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kiểm</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thử</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data.yaml</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File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cấu</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hình</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nhãn</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input/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Ảnh</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video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đầu</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vào</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output/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Kết</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quả</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xuất</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ra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ảnh</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log,…)</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real_time_output</a:t>
                      </a:r>
                      <a:r>
                        <a:rPr lang="en-US" sz="1300" b="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Kết</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quả</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video</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runs/</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Kết</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quả</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huấn</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luyện</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logs,...</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src</a:t>
                      </a:r>
                      <a:r>
                        <a:rPr lang="en-US" sz="1300" b="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Mã</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nguồn</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phụ</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trợ</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nếu</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có</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test_output</a:t>
                      </a:r>
                      <a:r>
                        <a:rPr lang="en-US" sz="1300" b="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Kết</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quả</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kiểm</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thử</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config.py</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File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cấu</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hình</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chung</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requirements.txt</a:t>
                      </a:r>
                      <a:r>
                        <a:rPr lang="en-US" sz="1300" b="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Th</a:t>
                      </a:r>
                      <a:r>
                        <a:rPr lang="en-US" sz="1000" i="1" kern="100" dirty="0" err="1">
                          <a:solidFill>
                            <a:srgbClr val="0D0D0D"/>
                          </a:solidFill>
                          <a:effectLst/>
                          <a:latin typeface="Consolas" panose="020B0609020204030204" pitchFamily="49" charset="0"/>
                          <a:ea typeface="Malgun Gothic" panose="020B0503020000020004" pitchFamily="34" charset="-127"/>
                          <a:cs typeface="___WRD_EMBED_SUB_43"/>
                        </a:rPr>
                        <a:t>ư</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viện</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cần</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cài</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đặt</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README.md</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Hướng</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dẫn</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tổng</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quan</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dự</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án</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train.py</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Script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huấn</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luyện</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YOLO</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predict.py</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Script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dự</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đoán</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ảnh</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/video</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real_time_predict_nlp_hybrid.py</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Nhận</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diện</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biển</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báo</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300" b="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utils.py</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H</a:t>
                      </a:r>
                      <a:r>
                        <a:rPr lang="en-US" sz="1000" i="1" kern="100" dirty="0" err="1">
                          <a:solidFill>
                            <a:srgbClr val="0D0D0D"/>
                          </a:solidFill>
                          <a:effectLst/>
                          <a:latin typeface="Consolas" panose="020B0609020204030204" pitchFamily="49" charset="0"/>
                          <a:ea typeface="Malgun Gothic" panose="020B0503020000020004" pitchFamily="34" charset="-127"/>
                          <a:cs typeface="___WRD_EMBED_SUB_43"/>
                        </a:rPr>
                        <a:t>à</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m</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tiện</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ích</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p>
                      <a:pPr indent="457200" algn="l" latinLnBrk="1"/>
                      <a:r>
                        <a:rPr lang="en-US" sz="1300" kern="100" dirty="0">
                          <a:solidFill>
                            <a:srgbClr val="0D0D0D"/>
                          </a:solidFill>
                          <a:effectLst/>
                          <a:latin typeface="Consolas" panose="020B0609020204030204" pitchFamily="49" charset="0"/>
                          <a:ea typeface="Malgun Gothic" panose="020B0503020000020004" pitchFamily="34" charset="-127"/>
                          <a:cs typeface="Arial" panose="020B0604020202020204" pitchFamily="34" charset="0"/>
                        </a:rPr>
                        <a:t>└──</a:t>
                      </a:r>
                      <a:r>
                        <a:rPr lang="en-US" sz="1300"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                        </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C</a:t>
                      </a:r>
                      <a:r>
                        <a:rPr lang="en-US" sz="1000" i="1" kern="100" dirty="0" err="1">
                          <a:solidFill>
                            <a:srgbClr val="0D0D0D"/>
                          </a:solidFill>
                          <a:effectLst/>
                          <a:latin typeface="Consolas" panose="020B0609020204030204" pitchFamily="49" charset="0"/>
                          <a:ea typeface="Malgun Gothic" panose="020B0503020000020004" pitchFamily="34" charset="-127"/>
                          <a:cs typeface="___WRD_EMBED_SUB_43"/>
                        </a:rPr>
                        <a:t>á</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c</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file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b</a:t>
                      </a:r>
                      <a:r>
                        <a:rPr lang="en-US" sz="1000" i="1" kern="100" dirty="0" err="1">
                          <a:solidFill>
                            <a:srgbClr val="0D0D0D"/>
                          </a:solidFill>
                          <a:effectLst/>
                          <a:latin typeface="Consolas" panose="020B0609020204030204" pitchFamily="49" charset="0"/>
                          <a:ea typeface="Malgun Gothic" panose="020B0503020000020004" pitchFamily="34" charset="-127"/>
                          <a:cs typeface="___WRD_EMBED_SUB_43"/>
                        </a:rPr>
                        <a:t>á</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o</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c</a:t>
                      </a:r>
                      <a:r>
                        <a:rPr lang="en-US" sz="1000" i="1" kern="100" dirty="0" err="1">
                          <a:solidFill>
                            <a:srgbClr val="0D0D0D"/>
                          </a:solidFill>
                          <a:effectLst/>
                          <a:latin typeface="Consolas" panose="020B0609020204030204" pitchFamily="49" charset="0"/>
                          <a:ea typeface="Malgun Gothic" panose="020B0503020000020004" pitchFamily="34" charset="-127"/>
                          <a:cs typeface="___WRD_EMBED_SUB_43"/>
                        </a:rPr>
                        <a:t>á</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o</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kiểm</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thử</a:t>
                      </a:r>
                      <a:r>
                        <a:rPr lang="en-US" sz="1000" i="1" kern="100" dirty="0">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 </a:t>
                      </a:r>
                      <a:r>
                        <a:rPr lang="en-US" sz="1000" i="1" kern="100" dirty="0" err="1">
                          <a:solidFill>
                            <a:srgbClr val="0D0D0D"/>
                          </a:solidFill>
                          <a:effectLst/>
                          <a:latin typeface="Consolas" panose="020B0609020204030204" pitchFamily="49" charset="0"/>
                          <a:ea typeface="Malgun Gothic" panose="020B0503020000020004" pitchFamily="34" charset="-127"/>
                          <a:cs typeface="Times New Roman" panose="02020603050405020304" pitchFamily="18" charset="0"/>
                        </a:rPr>
                        <a:t>khác</a:t>
                      </a:r>
                      <a:endParaRPr lang="en-VN" sz="1000" kern="100" dirty="0">
                        <a:effectLst/>
                        <a:latin typeface="Malgun Gothic" panose="020B0503020000020004" pitchFamily="34" charset="-127"/>
                        <a:ea typeface="Malgun Gothic" panose="020B0503020000020004" pitchFamily="34" charset="-127"/>
                        <a:cs typeface="Malgun Gothic" panose="020B0503020000020004" pitchFamily="34" charset="-127"/>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0820705"/>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7"/>
          <p:cNvSpPr txBox="1">
            <a:spLocks noGrp="1"/>
          </p:cNvSpPr>
          <p:nvPr>
            <p:ph type="title"/>
          </p:nvPr>
        </p:nvSpPr>
        <p:spPr>
          <a:xfrm>
            <a:off x="449468" y="1440000"/>
            <a:ext cx="8541300" cy="492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C0C0C"/>
              </a:buClr>
              <a:buSzPts val="3200"/>
              <a:buFont typeface="Arial"/>
              <a:buNone/>
            </a:pPr>
            <a:r>
              <a:rPr lang="en-US"/>
              <a:t>2.1. Tập dữ liệu</a:t>
            </a:r>
            <a:endParaRPr/>
          </a:p>
        </p:txBody>
      </p:sp>
      <p:sp>
        <p:nvSpPr>
          <p:cNvPr id="127" name="Google Shape;127;p17"/>
          <p:cNvSpPr txBox="1">
            <a:spLocks noGrp="1"/>
          </p:cNvSpPr>
          <p:nvPr>
            <p:ph type="body" idx="2"/>
          </p:nvPr>
        </p:nvSpPr>
        <p:spPr>
          <a:xfrm>
            <a:off x="522300" y="450000"/>
            <a:ext cx="7105500" cy="553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lt1"/>
              </a:buClr>
              <a:buSzPts val="1700"/>
              <a:buNone/>
            </a:pPr>
            <a:r>
              <a:rPr lang="en-US"/>
              <a:t>II. Triển khai dự án</a:t>
            </a:r>
            <a:endParaRPr/>
          </a:p>
          <a:p>
            <a:pPr marL="0" lvl="0" indent="0" algn="l" rtl="0">
              <a:lnSpc>
                <a:spcPct val="100000"/>
              </a:lnSpc>
              <a:spcBef>
                <a:spcPts val="0"/>
              </a:spcBef>
              <a:spcAft>
                <a:spcPts val="0"/>
              </a:spcAft>
              <a:buClr>
                <a:schemeClr val="lt1"/>
              </a:buClr>
              <a:buSzPts val="1700"/>
              <a:buNone/>
            </a:pPr>
            <a:endParaRPr/>
          </a:p>
        </p:txBody>
      </p:sp>
      <p:sp>
        <p:nvSpPr>
          <p:cNvPr id="128" name="Google Shape;128;p17"/>
          <p:cNvSpPr txBox="1">
            <a:spLocks noGrp="1"/>
          </p:cNvSpPr>
          <p:nvPr>
            <p:ph type="body" idx="5"/>
          </p:nvPr>
        </p:nvSpPr>
        <p:spPr>
          <a:xfrm>
            <a:off x="522300" y="2221634"/>
            <a:ext cx="8055300" cy="2240400"/>
          </a:xfrm>
          <a:prstGeom prst="rect">
            <a:avLst/>
          </a:prstGeom>
          <a:noFill/>
          <a:ln>
            <a:noFill/>
          </a:ln>
        </p:spPr>
        <p:txBody>
          <a:bodyPr spcFirstLastPara="1" wrap="square" lIns="0" tIns="0" rIns="0" bIns="0" anchor="t" anchorCtr="0">
            <a:noAutofit/>
          </a:bodyPr>
          <a:lstStyle/>
          <a:p>
            <a:pPr marL="177746" lvl="0" indent="0" algn="l" rtl="0">
              <a:lnSpc>
                <a:spcPct val="128571"/>
              </a:lnSpc>
              <a:spcBef>
                <a:spcPts val="0"/>
              </a:spcBef>
              <a:spcAft>
                <a:spcPts val="0"/>
              </a:spcAft>
              <a:buNone/>
            </a:pPr>
            <a:r>
              <a:rPr lang="en-US" dirty="0"/>
              <a:t>Dataset </a:t>
            </a:r>
            <a:r>
              <a:rPr lang="en-US" dirty="0" err="1"/>
              <a:t>được</a:t>
            </a:r>
            <a:r>
              <a:rPr lang="en-US" dirty="0"/>
              <a:t> </a:t>
            </a:r>
            <a:r>
              <a:rPr lang="en-US" dirty="0" err="1"/>
              <a:t>nhóm</a:t>
            </a:r>
            <a:r>
              <a:rPr lang="en-US" dirty="0"/>
              <a:t> </a:t>
            </a:r>
            <a:r>
              <a:rPr lang="en-US" dirty="0" err="1"/>
              <a:t>đi</a:t>
            </a:r>
            <a:r>
              <a:rPr lang="en-US" dirty="0"/>
              <a:t> </a:t>
            </a:r>
            <a:r>
              <a:rPr lang="en-US" dirty="0" err="1"/>
              <a:t>thu</a:t>
            </a:r>
            <a:r>
              <a:rPr lang="en-US" dirty="0"/>
              <a:t> </a:t>
            </a:r>
            <a:r>
              <a:rPr lang="en-US" dirty="0" err="1"/>
              <a:t>thập</a:t>
            </a:r>
            <a:r>
              <a:rPr lang="en-US" dirty="0"/>
              <a:t> </a:t>
            </a:r>
            <a:r>
              <a:rPr lang="en-US" dirty="0" err="1"/>
              <a:t>thực</a:t>
            </a:r>
            <a:r>
              <a:rPr lang="en-US" dirty="0"/>
              <a:t> </a:t>
            </a:r>
            <a:r>
              <a:rPr lang="en-US" dirty="0" err="1"/>
              <a:t>tế</a:t>
            </a:r>
            <a:r>
              <a:rPr lang="en-US" dirty="0"/>
              <a:t> </a:t>
            </a:r>
            <a:r>
              <a:rPr lang="en-US" dirty="0" err="1"/>
              <a:t>với</a:t>
            </a:r>
            <a:r>
              <a:rPr lang="en-US" dirty="0"/>
              <a:t> </a:t>
            </a:r>
            <a:r>
              <a:rPr lang="en-US" dirty="0" err="1"/>
              <a:t>giao</a:t>
            </a:r>
            <a:r>
              <a:rPr lang="en-US" dirty="0"/>
              <a:t> </a:t>
            </a:r>
            <a:r>
              <a:rPr lang="en-US" dirty="0" err="1"/>
              <a:t>thông</a:t>
            </a:r>
            <a:r>
              <a:rPr lang="en-US" dirty="0"/>
              <a:t> TP. Thái </a:t>
            </a:r>
            <a:r>
              <a:rPr lang="en-US" dirty="0" err="1"/>
              <a:t>Nguyên</a:t>
            </a:r>
            <a:r>
              <a:rPr lang="en-US" dirty="0"/>
              <a:t> bao </a:t>
            </a:r>
            <a:r>
              <a:rPr lang="en-US" dirty="0" err="1"/>
              <a:t>gồm</a:t>
            </a:r>
            <a:r>
              <a:rPr lang="en-US" dirty="0"/>
              <a:t> 12 </a:t>
            </a:r>
            <a:r>
              <a:rPr lang="en-US" dirty="0" err="1"/>
              <a:t>lớp</a:t>
            </a:r>
            <a:r>
              <a:rPr lang="en-US" dirty="0"/>
              <a:t> </a:t>
            </a:r>
            <a:r>
              <a:rPr lang="en-US" dirty="0" err="1"/>
              <a:t>biển</a:t>
            </a:r>
            <a:r>
              <a:rPr lang="en-US" dirty="0"/>
              <a:t> </a:t>
            </a:r>
            <a:r>
              <a:rPr lang="en-US" dirty="0" err="1"/>
              <a:t>báo</a:t>
            </a:r>
            <a:r>
              <a:rPr lang="en-US" dirty="0"/>
              <a:t> </a:t>
            </a:r>
            <a:r>
              <a:rPr lang="en-US" dirty="0" err="1"/>
              <a:t>với</a:t>
            </a:r>
            <a:r>
              <a:rPr lang="en-US" dirty="0"/>
              <a:t> </a:t>
            </a:r>
            <a:r>
              <a:rPr lang="en-US" dirty="0" err="1"/>
              <a:t>tổng</a:t>
            </a:r>
            <a:r>
              <a:rPr lang="en-US" dirty="0"/>
              <a:t> </a:t>
            </a:r>
            <a:r>
              <a:rPr lang="en-US" dirty="0" err="1"/>
              <a:t>cộng</a:t>
            </a:r>
            <a:r>
              <a:rPr lang="en-US" dirty="0"/>
              <a:t> 385 </a:t>
            </a:r>
            <a:r>
              <a:rPr lang="en-US" dirty="0" err="1"/>
              <a:t>ảnh</a:t>
            </a:r>
            <a:r>
              <a:rPr lang="en-US" dirty="0"/>
              <a:t>. Sau </a:t>
            </a:r>
            <a:r>
              <a:rPr lang="en-US" dirty="0" err="1"/>
              <a:t>đó</a:t>
            </a:r>
            <a:r>
              <a:rPr lang="en-US" dirty="0"/>
              <a:t> </a:t>
            </a:r>
            <a:r>
              <a:rPr lang="en-US" dirty="0" err="1"/>
              <a:t>gắn</a:t>
            </a:r>
            <a:r>
              <a:rPr lang="en-US" dirty="0"/>
              <a:t> </a:t>
            </a:r>
            <a:r>
              <a:rPr lang="en-US" dirty="0" err="1"/>
              <a:t>nhãn</a:t>
            </a:r>
            <a:r>
              <a:rPr lang="en-US" dirty="0"/>
              <a:t> </a:t>
            </a:r>
            <a:r>
              <a:rPr lang="en-US" dirty="0" err="1"/>
              <a:t>thủ</a:t>
            </a:r>
            <a:r>
              <a:rPr lang="en-US" dirty="0"/>
              <a:t> </a:t>
            </a:r>
            <a:r>
              <a:rPr lang="en-US" dirty="0" err="1"/>
              <a:t>công</a:t>
            </a:r>
            <a:r>
              <a:rPr lang="en-US" dirty="0"/>
              <a:t> </a:t>
            </a:r>
            <a:r>
              <a:rPr lang="en-US" dirty="0" err="1"/>
              <a:t>bằng</a:t>
            </a:r>
            <a:r>
              <a:rPr lang="en-US" dirty="0"/>
              <a:t> </a:t>
            </a:r>
            <a:r>
              <a:rPr lang="en-US" dirty="0" err="1"/>
              <a:t>RoboFlow</a:t>
            </a:r>
            <a:r>
              <a:rPr lang="en-US" dirty="0"/>
              <a:t>.</a:t>
            </a:r>
            <a:endParaRPr dirty="0"/>
          </a:p>
          <a:p>
            <a:pPr marL="177746" lvl="0" indent="0" algn="l" rtl="0">
              <a:lnSpc>
                <a:spcPct val="128571"/>
              </a:lnSpc>
              <a:spcBef>
                <a:spcPts val="0"/>
              </a:spcBef>
              <a:spcAft>
                <a:spcPts val="0"/>
              </a:spcAft>
              <a:buNone/>
            </a:pPr>
            <a:endParaRPr dirty="0"/>
          </a:p>
          <a:p>
            <a:pPr marL="177746" lvl="0" indent="0" algn="l" rtl="0">
              <a:lnSpc>
                <a:spcPct val="128571"/>
              </a:lnSpc>
              <a:spcBef>
                <a:spcPts val="0"/>
              </a:spcBef>
              <a:spcAft>
                <a:spcPts val="0"/>
              </a:spcAft>
              <a:buNone/>
            </a:pPr>
            <a:endParaRPr dirty="0"/>
          </a:p>
          <a:p>
            <a:pPr marL="177746" lvl="0" indent="0" algn="l" rtl="0">
              <a:lnSpc>
                <a:spcPct val="128571"/>
              </a:lnSpc>
              <a:spcBef>
                <a:spcPts val="0"/>
              </a:spcBef>
              <a:spcAft>
                <a:spcPts val="0"/>
              </a:spcAft>
              <a:buNone/>
            </a:pPr>
            <a:endParaRPr dirty="0"/>
          </a:p>
          <a:p>
            <a:pPr marL="177746" lvl="0" indent="0" algn="l" rtl="0">
              <a:lnSpc>
                <a:spcPct val="128571"/>
              </a:lnSpc>
              <a:spcBef>
                <a:spcPts val="0"/>
              </a:spcBef>
              <a:spcAft>
                <a:spcPts val="0"/>
              </a:spcAft>
              <a:buNone/>
            </a:pPr>
            <a:endParaRPr dirty="0"/>
          </a:p>
        </p:txBody>
      </p:sp>
      <p:pic>
        <p:nvPicPr>
          <p:cNvPr id="129" name="Google Shape;129;p17"/>
          <p:cNvPicPr preferRelativeResize="0"/>
          <p:nvPr/>
        </p:nvPicPr>
        <p:blipFill>
          <a:blip r:embed="rId3">
            <a:alphaModFix/>
          </a:blip>
          <a:stretch>
            <a:fillRect/>
          </a:stretch>
        </p:blipFill>
        <p:spPr>
          <a:xfrm>
            <a:off x="257475" y="2818775"/>
            <a:ext cx="4506025" cy="3419475"/>
          </a:xfrm>
          <a:prstGeom prst="rect">
            <a:avLst/>
          </a:prstGeom>
          <a:noFill/>
          <a:ln w="12700" cap="flat" cmpd="sng">
            <a:solidFill>
              <a:srgbClr val="000000"/>
            </a:solidFill>
            <a:prstDash val="solid"/>
            <a:miter lim="8000"/>
            <a:headEnd type="none" w="sm" len="sm"/>
            <a:tailEnd type="none" w="sm" len="sm"/>
          </a:ln>
        </p:spPr>
      </p:pic>
      <p:pic>
        <p:nvPicPr>
          <p:cNvPr id="130" name="Google Shape;130;p17"/>
          <p:cNvPicPr preferRelativeResize="0"/>
          <p:nvPr/>
        </p:nvPicPr>
        <p:blipFill>
          <a:blip r:embed="rId4">
            <a:alphaModFix/>
          </a:blip>
          <a:stretch>
            <a:fillRect/>
          </a:stretch>
        </p:blipFill>
        <p:spPr>
          <a:xfrm>
            <a:off x="4998000" y="3195724"/>
            <a:ext cx="4593025" cy="3042525"/>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8"/>
          <p:cNvSpPr txBox="1">
            <a:spLocks noGrp="1"/>
          </p:cNvSpPr>
          <p:nvPr>
            <p:ph type="title"/>
          </p:nvPr>
        </p:nvSpPr>
        <p:spPr>
          <a:xfrm>
            <a:off x="449468" y="1440000"/>
            <a:ext cx="8541300" cy="492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C0C0C"/>
              </a:buClr>
              <a:buSzPts val="3200"/>
              <a:buFont typeface="Arial"/>
              <a:buNone/>
            </a:pPr>
            <a:r>
              <a:rPr lang="en-US"/>
              <a:t>2.1. Tập dữ liệu</a:t>
            </a:r>
            <a:endParaRPr/>
          </a:p>
        </p:txBody>
      </p:sp>
      <p:sp>
        <p:nvSpPr>
          <p:cNvPr id="136" name="Google Shape;136;p18"/>
          <p:cNvSpPr txBox="1">
            <a:spLocks noGrp="1"/>
          </p:cNvSpPr>
          <p:nvPr>
            <p:ph type="body" idx="2"/>
          </p:nvPr>
        </p:nvSpPr>
        <p:spPr>
          <a:xfrm>
            <a:off x="522300" y="450000"/>
            <a:ext cx="7105500" cy="553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lt1"/>
              </a:buClr>
              <a:buSzPts val="1700"/>
              <a:buNone/>
            </a:pPr>
            <a:r>
              <a:rPr lang="en-US"/>
              <a:t>II. Triển khai dự án</a:t>
            </a:r>
            <a:endParaRPr/>
          </a:p>
          <a:p>
            <a:pPr marL="0" lvl="0" indent="0" algn="l" rtl="0">
              <a:lnSpc>
                <a:spcPct val="100000"/>
              </a:lnSpc>
              <a:spcBef>
                <a:spcPts val="0"/>
              </a:spcBef>
              <a:spcAft>
                <a:spcPts val="0"/>
              </a:spcAft>
              <a:buClr>
                <a:schemeClr val="lt1"/>
              </a:buClr>
              <a:buSzPts val="1700"/>
              <a:buNone/>
            </a:pPr>
            <a:endParaRPr/>
          </a:p>
        </p:txBody>
      </p:sp>
      <p:sp>
        <p:nvSpPr>
          <p:cNvPr id="137" name="Google Shape;137;p18"/>
          <p:cNvSpPr txBox="1">
            <a:spLocks noGrp="1"/>
          </p:cNvSpPr>
          <p:nvPr>
            <p:ph type="body" idx="5"/>
          </p:nvPr>
        </p:nvSpPr>
        <p:spPr>
          <a:xfrm>
            <a:off x="522300" y="2221634"/>
            <a:ext cx="8055300" cy="2240400"/>
          </a:xfrm>
          <a:prstGeom prst="rect">
            <a:avLst/>
          </a:prstGeom>
          <a:noFill/>
          <a:ln>
            <a:noFill/>
          </a:ln>
        </p:spPr>
        <p:txBody>
          <a:bodyPr spcFirstLastPara="1" wrap="square" lIns="0" tIns="0" rIns="0" bIns="0" anchor="t" anchorCtr="0">
            <a:noAutofit/>
          </a:bodyPr>
          <a:lstStyle/>
          <a:p>
            <a:pPr marL="177746" lvl="0" indent="0" algn="l" rtl="0">
              <a:lnSpc>
                <a:spcPct val="128571"/>
              </a:lnSpc>
              <a:spcBef>
                <a:spcPts val="0"/>
              </a:spcBef>
              <a:spcAft>
                <a:spcPts val="0"/>
              </a:spcAft>
              <a:buNone/>
            </a:pPr>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 Chia </a:t>
            </a:r>
            <a:r>
              <a:rPr lang="en-US" dirty="0" err="1"/>
              <a:t>tập</a:t>
            </a:r>
            <a:r>
              <a:rPr lang="en-US" dirty="0"/>
              <a:t> </a:t>
            </a:r>
            <a:r>
              <a:rPr lang="en-US" dirty="0" err="1"/>
              <a:t>dữ</a:t>
            </a:r>
            <a:r>
              <a:rPr lang="en-US" dirty="0"/>
              <a:t> </a:t>
            </a:r>
            <a:r>
              <a:rPr lang="en-US" dirty="0" err="1"/>
              <a:t>liệu</a:t>
            </a:r>
            <a:r>
              <a:rPr lang="en-US" dirty="0"/>
              <a:t> </a:t>
            </a:r>
            <a:r>
              <a:rPr lang="en-US" dirty="0" err="1"/>
              <a:t>thành</a:t>
            </a:r>
            <a:r>
              <a:rPr lang="en-US" dirty="0"/>
              <a:t> 2 </a:t>
            </a:r>
            <a:r>
              <a:rPr lang="en-US" dirty="0" err="1"/>
              <a:t>phần</a:t>
            </a:r>
            <a:r>
              <a:rPr lang="en-US" dirty="0"/>
              <a:t>: Train - Valid - Test </a:t>
            </a:r>
            <a:r>
              <a:rPr lang="en-US" dirty="0" err="1"/>
              <a:t>theo</a:t>
            </a:r>
            <a:r>
              <a:rPr lang="en-US" dirty="0"/>
              <a:t> </a:t>
            </a:r>
            <a:r>
              <a:rPr lang="en-US" dirty="0" err="1"/>
              <a:t>tỉ</a:t>
            </a:r>
            <a:r>
              <a:rPr lang="en-US" dirty="0"/>
              <a:t> </a:t>
            </a:r>
            <a:r>
              <a:rPr lang="en-US" dirty="0" err="1"/>
              <a:t>lệ</a:t>
            </a:r>
            <a:r>
              <a:rPr lang="en-US" dirty="0"/>
              <a:t> 88% - 8% - 4%. </a:t>
            </a:r>
            <a:r>
              <a:rPr lang="en-US" dirty="0" err="1"/>
              <a:t>Tăng</a:t>
            </a:r>
            <a:r>
              <a:rPr lang="en-US" dirty="0"/>
              <a:t> </a:t>
            </a:r>
            <a:r>
              <a:rPr lang="en-US" dirty="0" err="1"/>
              <a:t>cường</a:t>
            </a:r>
            <a:r>
              <a:rPr lang="en-US" dirty="0"/>
              <a:t> </a:t>
            </a:r>
            <a:r>
              <a:rPr lang="en-US" dirty="0" err="1"/>
              <a:t>dữ</a:t>
            </a:r>
            <a:r>
              <a:rPr lang="en-US" dirty="0"/>
              <a:t> </a:t>
            </a:r>
            <a:r>
              <a:rPr lang="en-US" dirty="0" err="1"/>
              <a:t>liệu</a:t>
            </a:r>
            <a:r>
              <a:rPr lang="en-US" dirty="0"/>
              <a:t> (data augmentation): </a:t>
            </a:r>
            <a:r>
              <a:rPr lang="en-US" dirty="0" err="1"/>
              <a:t>lật</a:t>
            </a:r>
            <a:r>
              <a:rPr lang="en-US" dirty="0"/>
              <a:t>, </a:t>
            </a:r>
            <a:r>
              <a:rPr lang="en-US" dirty="0" err="1"/>
              <a:t>xoay</a:t>
            </a:r>
            <a:r>
              <a:rPr lang="en-US" dirty="0"/>
              <a:t>, </a:t>
            </a:r>
            <a:r>
              <a:rPr lang="en-US" dirty="0" err="1"/>
              <a:t>thay</a:t>
            </a:r>
            <a:r>
              <a:rPr lang="en-US" dirty="0"/>
              <a:t> </a:t>
            </a:r>
            <a:r>
              <a:rPr lang="en-US" dirty="0" err="1"/>
              <a:t>đổi</a:t>
            </a:r>
            <a:r>
              <a:rPr lang="en-US" dirty="0"/>
              <a:t> </a:t>
            </a:r>
            <a:r>
              <a:rPr lang="en-US" dirty="0" err="1"/>
              <a:t>độ</a:t>
            </a:r>
            <a:r>
              <a:rPr lang="en-US" dirty="0"/>
              <a:t> </a:t>
            </a:r>
            <a:r>
              <a:rPr lang="en-US" dirty="0" err="1"/>
              <a:t>sáng</a:t>
            </a:r>
            <a:r>
              <a:rPr lang="en-US" dirty="0"/>
              <a:t>, </a:t>
            </a:r>
            <a:r>
              <a:rPr lang="en-US" dirty="0" err="1"/>
              <a:t>độ</a:t>
            </a:r>
            <a:r>
              <a:rPr lang="en-US" dirty="0"/>
              <a:t> </a:t>
            </a:r>
            <a:r>
              <a:rPr lang="en-US" dirty="0" err="1"/>
              <a:t>tương</a:t>
            </a:r>
            <a:r>
              <a:rPr lang="en-US" dirty="0"/>
              <a:t> </a:t>
            </a:r>
            <a:r>
              <a:rPr lang="en-US" dirty="0" err="1"/>
              <a:t>phản</a:t>
            </a:r>
            <a:r>
              <a:rPr lang="en-US" dirty="0"/>
              <a:t>, v.v. </a:t>
            </a:r>
            <a:r>
              <a:rPr lang="en-US" dirty="0" err="1"/>
              <a:t>để</a:t>
            </a:r>
            <a:r>
              <a:rPr lang="en-US" dirty="0"/>
              <a:t> </a:t>
            </a:r>
            <a:r>
              <a:rPr lang="en-US" dirty="0" err="1"/>
              <a:t>giúp</a:t>
            </a:r>
            <a:r>
              <a:rPr lang="en-US" dirty="0"/>
              <a:t> </a:t>
            </a:r>
            <a:r>
              <a:rPr lang="en-US" dirty="0" err="1"/>
              <a:t>mô</a:t>
            </a:r>
            <a:r>
              <a:rPr lang="en-US" dirty="0"/>
              <a:t> </a:t>
            </a:r>
            <a:r>
              <a:rPr lang="en-US" dirty="0" err="1"/>
              <a:t>hình</a:t>
            </a:r>
            <a:r>
              <a:rPr lang="en-US" dirty="0"/>
              <a:t> </a:t>
            </a:r>
            <a:r>
              <a:rPr lang="en-US" dirty="0" err="1"/>
              <a:t>học</a:t>
            </a:r>
            <a:r>
              <a:rPr lang="en-US" dirty="0"/>
              <a:t> </a:t>
            </a:r>
            <a:r>
              <a:rPr lang="en-US" dirty="0" err="1"/>
              <a:t>tốt</a:t>
            </a:r>
            <a:r>
              <a:rPr lang="en-US" dirty="0"/>
              <a:t> </a:t>
            </a:r>
            <a:r>
              <a:rPr lang="en-US" dirty="0" err="1"/>
              <a:t>hơn</a:t>
            </a:r>
            <a:r>
              <a:rPr lang="en-US" dirty="0"/>
              <a:t> </a:t>
            </a:r>
            <a:r>
              <a:rPr lang="en-US" dirty="0" err="1"/>
              <a:t>trong</a:t>
            </a:r>
            <a:r>
              <a:rPr lang="en-US" dirty="0"/>
              <a:t> </a:t>
            </a:r>
            <a:r>
              <a:rPr lang="en-US" dirty="0" err="1"/>
              <a:t>nhiều</a:t>
            </a:r>
            <a:r>
              <a:rPr lang="en-US" dirty="0"/>
              <a:t> </a:t>
            </a:r>
            <a:r>
              <a:rPr lang="en-US" dirty="0" err="1"/>
              <a:t>điều</a:t>
            </a:r>
            <a:r>
              <a:rPr lang="en-US" dirty="0"/>
              <a:t> </a:t>
            </a:r>
            <a:r>
              <a:rPr lang="en-US" dirty="0" err="1"/>
              <a:t>kiện</a:t>
            </a:r>
            <a:r>
              <a:rPr lang="en-US" dirty="0"/>
              <a:t> </a:t>
            </a:r>
            <a:r>
              <a:rPr lang="en-US" dirty="0" err="1"/>
              <a:t>thực</a:t>
            </a:r>
            <a:r>
              <a:rPr lang="en-US" dirty="0"/>
              <a:t> </a:t>
            </a:r>
            <a:r>
              <a:rPr lang="en-US" dirty="0" err="1"/>
              <a:t>tế</a:t>
            </a:r>
            <a:r>
              <a:rPr lang="en-US" dirty="0"/>
              <a:t>.. </a:t>
            </a:r>
            <a:r>
              <a:rPr lang="en-US" dirty="0" err="1"/>
              <a:t>Và</a:t>
            </a:r>
            <a:r>
              <a:rPr lang="en-US" dirty="0"/>
              <a:t> </a:t>
            </a:r>
            <a:r>
              <a:rPr lang="en-US" dirty="0" err="1"/>
              <a:t>chuyển</a:t>
            </a:r>
            <a:r>
              <a:rPr lang="en-US" dirty="0"/>
              <a:t> </a:t>
            </a:r>
            <a:r>
              <a:rPr lang="en-US" dirty="0" err="1"/>
              <a:t>đổi</a:t>
            </a:r>
            <a:r>
              <a:rPr lang="en-US" dirty="0"/>
              <a:t> </a:t>
            </a:r>
            <a:r>
              <a:rPr lang="en-US" dirty="0" err="1"/>
              <a:t>định</a:t>
            </a:r>
            <a:r>
              <a:rPr lang="en-US" dirty="0"/>
              <a:t> </a:t>
            </a:r>
            <a:r>
              <a:rPr lang="en-US" dirty="0" err="1"/>
              <a:t>dạng</a:t>
            </a:r>
            <a:r>
              <a:rPr lang="en-US" dirty="0"/>
              <a:t> </a:t>
            </a:r>
            <a:r>
              <a:rPr lang="en-US" dirty="0" err="1"/>
              <a:t>nhãn</a:t>
            </a:r>
            <a:r>
              <a:rPr lang="en-US" dirty="0"/>
              <a:t> </a:t>
            </a:r>
            <a:r>
              <a:rPr lang="en-US" dirty="0" err="1"/>
              <a:t>về</a:t>
            </a:r>
            <a:r>
              <a:rPr lang="en-US" dirty="0"/>
              <a:t> </a:t>
            </a:r>
            <a:r>
              <a:rPr lang="en-US" dirty="0" err="1"/>
              <a:t>chuẩn</a:t>
            </a:r>
            <a:r>
              <a:rPr lang="en-US" dirty="0"/>
              <a:t> YOLO (bounding box + class).</a:t>
            </a:r>
            <a:endParaRPr dirty="0"/>
          </a:p>
        </p:txBody>
      </p:sp>
      <p:pic>
        <p:nvPicPr>
          <p:cNvPr id="3" name="Picture 2">
            <a:extLst>
              <a:ext uri="{FF2B5EF4-FFF2-40B4-BE49-F238E27FC236}">
                <a16:creationId xmlns:a16="http://schemas.microsoft.com/office/drawing/2014/main" id="{CF4F5407-7A2B-3C4F-800C-D798679F6073}"/>
              </a:ext>
            </a:extLst>
          </p:cNvPr>
          <p:cNvPicPr>
            <a:picLocks noChangeAspect="1"/>
          </p:cNvPicPr>
          <p:nvPr/>
        </p:nvPicPr>
        <p:blipFill>
          <a:blip r:embed="rId3"/>
          <a:stretch>
            <a:fillRect/>
          </a:stretch>
        </p:blipFill>
        <p:spPr>
          <a:xfrm>
            <a:off x="4316156" y="3159939"/>
            <a:ext cx="5064369" cy="318225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1"/>
          <p:cNvSpPr txBox="1">
            <a:spLocks noGrp="1"/>
          </p:cNvSpPr>
          <p:nvPr>
            <p:ph type="title"/>
          </p:nvPr>
        </p:nvSpPr>
        <p:spPr>
          <a:xfrm>
            <a:off x="449468" y="1440000"/>
            <a:ext cx="8541300" cy="492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C0C0C"/>
              </a:buClr>
              <a:buSzPts val="3200"/>
              <a:buFont typeface="Arial"/>
              <a:buNone/>
            </a:pPr>
            <a:r>
              <a:rPr lang="en-US" dirty="0"/>
              <a:t>2.2. </a:t>
            </a:r>
            <a:r>
              <a:rPr lang="en-US" dirty="0" err="1"/>
              <a:t>Huấn</a:t>
            </a:r>
            <a:r>
              <a:rPr lang="en-US" dirty="0"/>
              <a:t> </a:t>
            </a:r>
            <a:r>
              <a:rPr lang="en-US" dirty="0" err="1"/>
              <a:t>luyện</a:t>
            </a:r>
            <a:r>
              <a:rPr lang="en-US" dirty="0"/>
              <a:t> </a:t>
            </a:r>
            <a:r>
              <a:rPr lang="en-US" dirty="0" err="1"/>
              <a:t>mô</a:t>
            </a:r>
            <a:r>
              <a:rPr lang="en-US" dirty="0"/>
              <a:t> </a:t>
            </a:r>
            <a:r>
              <a:rPr lang="en-US" dirty="0" err="1"/>
              <a:t>hình</a:t>
            </a:r>
            <a:endParaRPr dirty="0"/>
          </a:p>
        </p:txBody>
      </p:sp>
      <p:sp>
        <p:nvSpPr>
          <p:cNvPr id="158" name="Google Shape;158;p21"/>
          <p:cNvSpPr txBox="1">
            <a:spLocks noGrp="1"/>
          </p:cNvSpPr>
          <p:nvPr>
            <p:ph type="body" idx="2"/>
          </p:nvPr>
        </p:nvSpPr>
        <p:spPr>
          <a:xfrm>
            <a:off x="522300" y="450000"/>
            <a:ext cx="7105500" cy="553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lt1"/>
              </a:buClr>
              <a:buSzPts val="1700"/>
              <a:buNone/>
            </a:pPr>
            <a:r>
              <a:rPr lang="en-US"/>
              <a:t>II. Triển khai dự án</a:t>
            </a:r>
            <a:endParaRPr/>
          </a:p>
          <a:p>
            <a:pPr marL="0" lvl="0" indent="0" algn="l" rtl="0">
              <a:lnSpc>
                <a:spcPct val="100000"/>
              </a:lnSpc>
              <a:spcBef>
                <a:spcPts val="0"/>
              </a:spcBef>
              <a:spcAft>
                <a:spcPts val="0"/>
              </a:spcAft>
              <a:buClr>
                <a:schemeClr val="lt1"/>
              </a:buClr>
              <a:buSzPts val="1700"/>
              <a:buNone/>
            </a:pPr>
            <a:endParaRPr/>
          </a:p>
        </p:txBody>
      </p:sp>
      <p:sp>
        <p:nvSpPr>
          <p:cNvPr id="159" name="Google Shape;159;p21"/>
          <p:cNvSpPr txBox="1">
            <a:spLocks noGrp="1"/>
          </p:cNvSpPr>
          <p:nvPr>
            <p:ph type="body" idx="5"/>
          </p:nvPr>
        </p:nvSpPr>
        <p:spPr>
          <a:xfrm>
            <a:off x="522300" y="2221634"/>
            <a:ext cx="8055300" cy="2240400"/>
          </a:xfrm>
          <a:prstGeom prst="rect">
            <a:avLst/>
          </a:prstGeom>
          <a:noFill/>
          <a:ln>
            <a:noFill/>
          </a:ln>
        </p:spPr>
        <p:txBody>
          <a:bodyPr spcFirstLastPara="1" wrap="square" lIns="0" tIns="0" rIns="0" bIns="0" anchor="t" anchorCtr="0">
            <a:noAutofit/>
          </a:bodyPr>
          <a:lstStyle/>
          <a:p>
            <a:pPr marL="177746" lvl="0" indent="0" algn="l" rtl="0">
              <a:lnSpc>
                <a:spcPct val="128571"/>
              </a:lnSpc>
              <a:spcBef>
                <a:spcPts val="0"/>
              </a:spcBef>
              <a:spcAft>
                <a:spcPts val="0"/>
              </a:spcAft>
              <a:buNone/>
            </a:pPr>
            <a:r>
              <a:rPr lang="vi-VN" sz="1600" dirty="0"/>
              <a:t>Quá trình huấn luyện, đánh giá và kiểm thử mô hình được tự động hoá trong file train.py:</a:t>
            </a:r>
          </a:p>
          <a:p>
            <a:pPr marL="463496" indent="-285750">
              <a:spcBef>
                <a:spcPts val="0"/>
              </a:spcBef>
            </a:pPr>
            <a:r>
              <a:rPr lang="vi-VN" sz="1600" dirty="0"/>
              <a:t>Khởi tạo huấn luyện</a:t>
            </a:r>
          </a:p>
          <a:p>
            <a:pPr marL="463496" indent="-285750">
              <a:spcBef>
                <a:spcPts val="0"/>
              </a:spcBef>
            </a:pPr>
            <a:r>
              <a:rPr lang="vi-VN" sz="1600" dirty="0"/>
              <a:t>Thiết lập môi trường</a:t>
            </a:r>
          </a:p>
          <a:p>
            <a:pPr marL="463496" indent="-285750">
              <a:spcBef>
                <a:spcPts val="0"/>
              </a:spcBef>
            </a:pPr>
            <a:r>
              <a:rPr lang="vi-VN" sz="1600" dirty="0"/>
              <a:t>Huấn luyện mô hình</a:t>
            </a:r>
          </a:p>
          <a:p>
            <a:pPr marL="463496" indent="-285750">
              <a:spcBef>
                <a:spcPts val="0"/>
              </a:spcBef>
            </a:pPr>
            <a:r>
              <a:rPr lang="vi-VN" sz="1600" dirty="0"/>
              <a:t>Đánh giá trên tập validation</a:t>
            </a:r>
          </a:p>
          <a:p>
            <a:pPr marL="463496" indent="-285750">
              <a:spcBef>
                <a:spcPts val="0"/>
              </a:spcBef>
            </a:pPr>
            <a:r>
              <a:rPr lang="vi-VN" sz="1600" dirty="0"/>
              <a:t>Đánh giá trên tập test</a:t>
            </a:r>
          </a:p>
          <a:p>
            <a:pPr marL="463496" indent="-285750">
              <a:spcBef>
                <a:spcPts val="0"/>
              </a:spcBef>
            </a:pPr>
            <a:r>
              <a:rPr lang="vi-VN" sz="1600" dirty="0"/>
              <a:t>Chạy toàn bộ quy trình</a:t>
            </a:r>
            <a:endParaRPr sz="1600" dirty="0"/>
          </a:p>
        </p:txBody>
      </p:sp>
      <p:pic>
        <p:nvPicPr>
          <p:cNvPr id="3" name="Picture 2">
            <a:extLst>
              <a:ext uri="{FF2B5EF4-FFF2-40B4-BE49-F238E27FC236}">
                <a16:creationId xmlns:a16="http://schemas.microsoft.com/office/drawing/2014/main" id="{EB4129E5-A16B-781A-0AD4-B7490102BEB0}"/>
              </a:ext>
            </a:extLst>
          </p:cNvPr>
          <p:cNvPicPr>
            <a:picLocks noChangeAspect="1"/>
          </p:cNvPicPr>
          <p:nvPr/>
        </p:nvPicPr>
        <p:blipFill>
          <a:blip r:embed="rId3"/>
          <a:stretch>
            <a:fillRect/>
          </a:stretch>
        </p:blipFill>
        <p:spPr>
          <a:xfrm>
            <a:off x="4844653" y="2676340"/>
            <a:ext cx="4535872" cy="3571387"/>
          </a:xfrm>
          <a:prstGeom prst="rect">
            <a:avLst/>
          </a:prstGeom>
        </p:spPr>
      </p:pic>
    </p:spTree>
    <p:extLst>
      <p:ext uri="{BB962C8B-B14F-4D97-AF65-F5344CB8AC3E}">
        <p14:creationId xmlns:p14="http://schemas.microsoft.com/office/powerpoint/2010/main" val="210773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1"/>
          <p:cNvSpPr txBox="1">
            <a:spLocks noGrp="1"/>
          </p:cNvSpPr>
          <p:nvPr>
            <p:ph type="title"/>
          </p:nvPr>
        </p:nvSpPr>
        <p:spPr>
          <a:xfrm>
            <a:off x="449468" y="1440000"/>
            <a:ext cx="8541300" cy="492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C0C0C"/>
              </a:buClr>
              <a:buSzPts val="3200"/>
              <a:buFont typeface="Arial"/>
              <a:buNone/>
            </a:pPr>
            <a:r>
              <a:rPr lang="en-US" dirty="0"/>
              <a:t>2.2. </a:t>
            </a:r>
            <a:r>
              <a:rPr lang="en-US" dirty="0" err="1"/>
              <a:t>Xây</a:t>
            </a:r>
            <a:r>
              <a:rPr lang="en-US" dirty="0"/>
              <a:t> dung </a:t>
            </a:r>
            <a:r>
              <a:rPr lang="en-US" dirty="0" err="1"/>
              <a:t>hệ</a:t>
            </a:r>
            <a:r>
              <a:rPr lang="en-US" dirty="0"/>
              <a:t> </a:t>
            </a:r>
            <a:r>
              <a:rPr lang="en-US" dirty="0" err="1"/>
              <a:t>thống</a:t>
            </a:r>
            <a:r>
              <a:rPr lang="en-US" dirty="0"/>
              <a:t> </a:t>
            </a:r>
            <a:r>
              <a:rPr lang="en-US" dirty="0" err="1"/>
              <a:t>nhận</a:t>
            </a:r>
            <a:r>
              <a:rPr lang="en-US" dirty="0"/>
              <a:t> </a:t>
            </a:r>
            <a:r>
              <a:rPr lang="en-US" dirty="0" err="1"/>
              <a:t>diện</a:t>
            </a:r>
            <a:endParaRPr dirty="0"/>
          </a:p>
        </p:txBody>
      </p:sp>
      <p:sp>
        <p:nvSpPr>
          <p:cNvPr id="158" name="Google Shape;158;p21"/>
          <p:cNvSpPr txBox="1">
            <a:spLocks noGrp="1"/>
          </p:cNvSpPr>
          <p:nvPr>
            <p:ph type="body" idx="2"/>
          </p:nvPr>
        </p:nvSpPr>
        <p:spPr>
          <a:xfrm>
            <a:off x="522300" y="450000"/>
            <a:ext cx="7105500" cy="553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lt1"/>
              </a:buClr>
              <a:buSzPts val="1700"/>
              <a:buNone/>
            </a:pPr>
            <a:r>
              <a:rPr lang="en-US"/>
              <a:t>II. Triển khai dự án</a:t>
            </a:r>
            <a:endParaRPr/>
          </a:p>
          <a:p>
            <a:pPr marL="0" lvl="0" indent="0" algn="l" rtl="0">
              <a:lnSpc>
                <a:spcPct val="100000"/>
              </a:lnSpc>
              <a:spcBef>
                <a:spcPts val="0"/>
              </a:spcBef>
              <a:spcAft>
                <a:spcPts val="0"/>
              </a:spcAft>
              <a:buClr>
                <a:schemeClr val="lt1"/>
              </a:buClr>
              <a:buSzPts val="1700"/>
              <a:buNone/>
            </a:pPr>
            <a:endParaRPr/>
          </a:p>
        </p:txBody>
      </p:sp>
      <p:sp>
        <p:nvSpPr>
          <p:cNvPr id="159" name="Google Shape;159;p21"/>
          <p:cNvSpPr txBox="1">
            <a:spLocks noGrp="1"/>
          </p:cNvSpPr>
          <p:nvPr>
            <p:ph type="body" idx="5"/>
          </p:nvPr>
        </p:nvSpPr>
        <p:spPr>
          <a:xfrm>
            <a:off x="522300" y="2221634"/>
            <a:ext cx="8055300" cy="2240400"/>
          </a:xfrm>
          <a:prstGeom prst="rect">
            <a:avLst/>
          </a:prstGeom>
          <a:noFill/>
          <a:ln>
            <a:noFill/>
          </a:ln>
        </p:spPr>
        <p:txBody>
          <a:bodyPr spcFirstLastPara="1" wrap="square" lIns="0" tIns="0" rIns="0" bIns="0" anchor="t" anchorCtr="0">
            <a:noAutofit/>
          </a:bodyPr>
          <a:lstStyle/>
          <a:p>
            <a:pPr marL="177746" lvl="0" indent="0" algn="l" rtl="0">
              <a:lnSpc>
                <a:spcPct val="128571"/>
              </a:lnSpc>
              <a:spcBef>
                <a:spcPts val="0"/>
              </a:spcBef>
              <a:spcAft>
                <a:spcPts val="0"/>
              </a:spcAft>
              <a:buNone/>
            </a:pPr>
            <a:r>
              <a:rPr lang="vi-VN" sz="1600" dirty="0"/>
              <a:t>Hệ thống nhận diện biển báo được xây dựng để có thể hoạt động theo thời gian thực; kết hợp sử dụng mô hình YOLOv8 để nhận diện biển báo và mô hình xử lý ngôn ngữ tự nhiên. </a:t>
            </a:r>
          </a:p>
          <a:p>
            <a:pPr marL="177746" lvl="0" indent="0" algn="l" rtl="0">
              <a:lnSpc>
                <a:spcPct val="128571"/>
              </a:lnSpc>
              <a:spcBef>
                <a:spcPts val="0"/>
              </a:spcBef>
              <a:spcAft>
                <a:spcPts val="0"/>
              </a:spcAft>
              <a:buNone/>
            </a:pPr>
            <a:endParaRPr lang="vi-VN" sz="1600" dirty="0"/>
          </a:p>
          <a:p>
            <a:pPr marL="177746" lvl="0" indent="0" algn="l" rtl="0">
              <a:lnSpc>
                <a:spcPct val="128571"/>
              </a:lnSpc>
              <a:spcBef>
                <a:spcPts val="0"/>
              </a:spcBef>
              <a:spcAft>
                <a:spcPts val="0"/>
              </a:spcAft>
              <a:buNone/>
            </a:pPr>
            <a:r>
              <a:rPr lang="vi-VN" sz="1600" dirty="0"/>
              <a:t>Ngoài ra hệ thống sử dụng các thuật toán xử lý ảnh</a:t>
            </a:r>
            <a:r>
              <a:rPr lang="en-US" sz="1600" dirty="0"/>
              <a:t> </a:t>
            </a:r>
            <a:r>
              <a:rPr lang="en-US" sz="1600" dirty="0" err="1"/>
              <a:t>để</a:t>
            </a:r>
            <a:r>
              <a:rPr lang="en-US" sz="1600" dirty="0"/>
              <a:t> </a:t>
            </a:r>
            <a:r>
              <a:rPr lang="en-US" sz="1600" dirty="0" err="1"/>
              <a:t>xác</a:t>
            </a:r>
            <a:r>
              <a:rPr lang="en-US" sz="1600" dirty="0"/>
              <a:t> </a:t>
            </a:r>
            <a:r>
              <a:rPr lang="en-US" sz="1600" dirty="0" err="1"/>
              <a:t>định</a:t>
            </a:r>
            <a:r>
              <a:rPr lang="en-US" sz="1600" dirty="0"/>
              <a:t> </a:t>
            </a:r>
            <a:r>
              <a:rPr lang="en-US" sz="1600" dirty="0" err="1"/>
              <a:t>chiều</a:t>
            </a:r>
            <a:r>
              <a:rPr lang="en-US" sz="1600" dirty="0"/>
              <a:t> </a:t>
            </a:r>
            <a:r>
              <a:rPr lang="en-US" sz="1600" dirty="0" err="1"/>
              <a:t>của</a:t>
            </a:r>
            <a:r>
              <a:rPr lang="en-US" sz="1600" dirty="0"/>
              <a:t> </a:t>
            </a:r>
            <a:r>
              <a:rPr lang="en-US" sz="1600" dirty="0" err="1"/>
              <a:t>mũi</a:t>
            </a:r>
            <a:r>
              <a:rPr lang="en-US" sz="1600" dirty="0"/>
              <a:t> </a:t>
            </a:r>
            <a:r>
              <a:rPr lang="en-US" sz="1600" dirty="0" err="1"/>
              <a:t>tên</a:t>
            </a:r>
            <a:r>
              <a:rPr lang="en-US" sz="1600" dirty="0"/>
              <a:t> </a:t>
            </a:r>
            <a:r>
              <a:rPr lang="en-US" sz="1600" dirty="0" err="1"/>
              <a:t>chỉ</a:t>
            </a:r>
            <a:r>
              <a:rPr lang="en-US" sz="1600" dirty="0"/>
              <a:t> </a:t>
            </a:r>
            <a:r>
              <a:rPr lang="en-US" sz="1600"/>
              <a:t>dẫn</a:t>
            </a:r>
            <a:r>
              <a:rPr lang="vi-VN" sz="1600"/>
              <a:t> </a:t>
            </a:r>
            <a:r>
              <a:rPr lang="vi-VN" sz="1600" dirty="0"/>
              <a:t>như:</a:t>
            </a:r>
            <a:endParaRPr lang="en-US" sz="1600" dirty="0"/>
          </a:p>
          <a:p>
            <a:pPr marL="520646" lvl="0" indent="-342900" algn="l" rtl="0">
              <a:lnSpc>
                <a:spcPct val="128571"/>
              </a:lnSpc>
              <a:spcBef>
                <a:spcPts val="0"/>
              </a:spcBef>
              <a:spcAft>
                <a:spcPts val="0"/>
              </a:spcAft>
              <a:buFont typeface="+mj-lt"/>
              <a:buAutoNum type="arabicPeriod"/>
            </a:pPr>
            <a:r>
              <a:rPr lang="vi-VN" sz="1600" dirty="0"/>
              <a:t>So khớp mẫu (Template Matching)</a:t>
            </a:r>
            <a:endParaRPr lang="en-US" sz="1600" dirty="0"/>
          </a:p>
          <a:p>
            <a:pPr marL="520646" lvl="0" indent="-342900" algn="l" rtl="0">
              <a:lnSpc>
                <a:spcPct val="128571"/>
              </a:lnSpc>
              <a:spcBef>
                <a:spcPts val="0"/>
              </a:spcBef>
              <a:spcAft>
                <a:spcPts val="0"/>
              </a:spcAft>
              <a:buFont typeface="+mj-lt"/>
              <a:buAutoNum type="arabicPeriod"/>
            </a:pPr>
            <a:r>
              <a:rPr lang="vi-VN" sz="1600" dirty="0"/>
              <a:t>Phân tích đường viền (Contour Analysis)</a:t>
            </a:r>
            <a:endParaRPr lang="en-US" sz="1600" dirty="0"/>
          </a:p>
          <a:p>
            <a:pPr marL="520646" lvl="0" indent="-342900" algn="l" rtl="0">
              <a:lnSpc>
                <a:spcPct val="128571"/>
              </a:lnSpc>
              <a:spcBef>
                <a:spcPts val="0"/>
              </a:spcBef>
              <a:spcAft>
                <a:spcPts val="0"/>
              </a:spcAft>
              <a:buFont typeface="+mj-lt"/>
              <a:buAutoNum type="arabicPeriod"/>
            </a:pPr>
            <a:r>
              <a:rPr lang="vi-VN" sz="1600" dirty="0"/>
              <a:t>Phân tích hướng cạnh (Edge Direction Analysis)</a:t>
            </a:r>
            <a:endParaRPr lang="en-US" sz="1600" dirty="0"/>
          </a:p>
          <a:p>
            <a:pPr marL="520646" lvl="0" indent="-342900" algn="l" rtl="0">
              <a:lnSpc>
                <a:spcPct val="128571"/>
              </a:lnSpc>
              <a:spcBef>
                <a:spcPts val="0"/>
              </a:spcBef>
              <a:spcAft>
                <a:spcPts val="0"/>
              </a:spcAft>
              <a:buFont typeface="+mj-lt"/>
              <a:buAutoNum type="arabicPeriod"/>
            </a:pPr>
            <a:r>
              <a:rPr lang="vi-VN" sz="1600" dirty="0"/>
              <a:t>Bỏ phiếu trọng số (Weighted Voting/ Fusion) để nhận diện hướng mũi tên chỉ dẫn trên biển báo</a:t>
            </a:r>
            <a:endParaRPr sz="1600" dirty="0"/>
          </a:p>
        </p:txBody>
      </p:sp>
    </p:spTree>
    <p:extLst>
      <p:ext uri="{BB962C8B-B14F-4D97-AF65-F5344CB8AC3E}">
        <p14:creationId xmlns:p14="http://schemas.microsoft.com/office/powerpoint/2010/main" val="119270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C75C3-A5A5-0B9F-6E0F-30285205A267}"/>
              </a:ext>
            </a:extLst>
          </p:cNvPr>
          <p:cNvSpPr>
            <a:spLocks noGrp="1"/>
          </p:cNvSpPr>
          <p:nvPr>
            <p:ph type="title"/>
          </p:nvPr>
        </p:nvSpPr>
        <p:spPr>
          <a:xfrm>
            <a:off x="3366288" y="1040674"/>
            <a:ext cx="8541187" cy="246221"/>
          </a:xfrm>
        </p:spPr>
        <p:txBody>
          <a:bodyPr/>
          <a:lstStyle/>
          <a:p>
            <a:r>
              <a:rPr lang="en-US" sz="1600" dirty="0" err="1"/>
              <a:t>Sơ</a:t>
            </a:r>
            <a:r>
              <a:rPr lang="en-US" sz="1600" dirty="0"/>
              <a:t> </a:t>
            </a:r>
            <a:r>
              <a:rPr lang="en-US" sz="1600" dirty="0" err="1"/>
              <a:t>đồ</a:t>
            </a:r>
            <a:r>
              <a:rPr lang="en-US" sz="1600" dirty="0"/>
              <a:t> </a:t>
            </a:r>
            <a:r>
              <a:rPr lang="en-US" sz="1600" dirty="0" err="1"/>
              <a:t>hoạt</a:t>
            </a:r>
            <a:r>
              <a:rPr lang="en-US" sz="1600" dirty="0"/>
              <a:t> </a:t>
            </a:r>
            <a:r>
              <a:rPr lang="en-US" sz="1600" dirty="0" err="1"/>
              <a:t>động</a:t>
            </a:r>
            <a:r>
              <a:rPr lang="en-US" sz="1600" dirty="0"/>
              <a:t> </a:t>
            </a:r>
            <a:r>
              <a:rPr lang="en-US" sz="1600" dirty="0" err="1"/>
              <a:t>của</a:t>
            </a:r>
            <a:r>
              <a:rPr lang="en-US" sz="1600" dirty="0"/>
              <a:t> </a:t>
            </a:r>
            <a:r>
              <a:rPr lang="en-US" sz="1600" dirty="0" err="1"/>
              <a:t>hệ</a:t>
            </a:r>
            <a:r>
              <a:rPr lang="en-US" sz="1600" dirty="0"/>
              <a:t> </a:t>
            </a:r>
            <a:r>
              <a:rPr lang="en-US" sz="1600" dirty="0" err="1"/>
              <a:t>thống</a:t>
            </a:r>
            <a:endParaRPr lang="en-US" sz="1600" dirty="0"/>
          </a:p>
        </p:txBody>
      </p:sp>
      <p:pic>
        <p:nvPicPr>
          <p:cNvPr id="8" name="Picture 7">
            <a:extLst>
              <a:ext uri="{FF2B5EF4-FFF2-40B4-BE49-F238E27FC236}">
                <a16:creationId xmlns:a16="http://schemas.microsoft.com/office/drawing/2014/main" id="{86E0E5FA-AD19-22E3-261E-3915F08DFE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0999" y="1372915"/>
            <a:ext cx="7760825" cy="4965139"/>
          </a:xfrm>
          <a:prstGeom prst="rect">
            <a:avLst/>
          </a:prstGeom>
          <a:ln w="12700">
            <a:solidFill>
              <a:schemeClr val="tx1"/>
            </a:solidFill>
          </a:ln>
        </p:spPr>
      </p:pic>
    </p:spTree>
    <p:extLst>
      <p:ext uri="{BB962C8B-B14F-4D97-AF65-F5344CB8AC3E}">
        <p14:creationId xmlns:p14="http://schemas.microsoft.com/office/powerpoint/2010/main" val="27116191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2"/>
          <p:cNvSpPr txBox="1">
            <a:spLocks noGrp="1"/>
          </p:cNvSpPr>
          <p:nvPr>
            <p:ph type="title"/>
          </p:nvPr>
        </p:nvSpPr>
        <p:spPr>
          <a:xfrm>
            <a:off x="279288" y="1218936"/>
            <a:ext cx="8541300" cy="492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C0C0C"/>
              </a:buClr>
              <a:buSzPts val="3200"/>
              <a:buFont typeface="Arial"/>
              <a:buNone/>
            </a:pPr>
            <a:r>
              <a:rPr lang="vi-VN" dirty="0"/>
              <a:t>Xác định biển báo</a:t>
            </a:r>
            <a:endParaRPr dirty="0"/>
          </a:p>
        </p:txBody>
      </p:sp>
      <p:sp>
        <p:nvSpPr>
          <p:cNvPr id="168" name="Google Shape;168;p22"/>
          <p:cNvSpPr txBox="1">
            <a:spLocks noGrp="1"/>
          </p:cNvSpPr>
          <p:nvPr>
            <p:ph type="body" idx="5"/>
          </p:nvPr>
        </p:nvSpPr>
        <p:spPr>
          <a:xfrm>
            <a:off x="522288" y="2221661"/>
            <a:ext cx="8055300" cy="4098752"/>
          </a:xfrm>
          <a:prstGeom prst="rect">
            <a:avLst/>
          </a:prstGeom>
          <a:noFill/>
          <a:ln>
            <a:noFill/>
          </a:ln>
        </p:spPr>
        <p:txBody>
          <a:bodyPr spcFirstLastPara="1" wrap="square" lIns="0" tIns="0" rIns="0" bIns="0" anchor="t" anchorCtr="0">
            <a:noAutofit/>
          </a:bodyPr>
          <a:lstStyle/>
          <a:p>
            <a:pPr marL="177746" lvl="0" indent="-177746" algn="l" rtl="0">
              <a:lnSpc>
                <a:spcPct val="128571"/>
              </a:lnSpc>
              <a:spcBef>
                <a:spcPts val="0"/>
              </a:spcBef>
              <a:spcAft>
                <a:spcPts val="0"/>
              </a:spcAft>
              <a:buClr>
                <a:srgbClr val="262626"/>
              </a:buClr>
              <a:buSzPts val="1470"/>
              <a:buFont typeface="Arial"/>
              <a:buChar char="•"/>
            </a:pPr>
            <a:r>
              <a:rPr lang="vi-VN" sz="1800" dirty="0"/>
              <a:t>Khởi tạo mô hình: tại phần RealTimeTraficSignDetectorNLPHybrid, mô hình YOLOv8 được load từ file trọng số (best.pt) đã được huấn luyện</a:t>
            </a:r>
          </a:p>
          <a:p>
            <a:pPr marL="177746" lvl="0" indent="-177746" algn="l" rtl="0">
              <a:lnSpc>
                <a:spcPct val="128571"/>
              </a:lnSpc>
              <a:spcBef>
                <a:spcPts val="0"/>
              </a:spcBef>
              <a:spcAft>
                <a:spcPts val="0"/>
              </a:spcAft>
              <a:buClr>
                <a:srgbClr val="262626"/>
              </a:buClr>
              <a:buSzPts val="1470"/>
              <a:buFont typeface="Arial"/>
              <a:buChar char="•"/>
            </a:pPr>
            <a:r>
              <a:rPr lang="vi-VN" sz="1800" dirty="0"/>
              <a:t>Dự đoán từng frame: hàm predict_frame sẽ xử lý ảnh và gọi mô hình YOLOv8 để dự đoán</a:t>
            </a:r>
          </a:p>
          <a:p>
            <a:pPr marL="177746" lvl="0" indent="-177746" algn="l" rtl="0">
              <a:lnSpc>
                <a:spcPct val="128571"/>
              </a:lnSpc>
              <a:spcBef>
                <a:spcPts val="0"/>
              </a:spcBef>
              <a:spcAft>
                <a:spcPts val="0"/>
              </a:spcAft>
              <a:buClr>
                <a:srgbClr val="262626"/>
              </a:buClr>
              <a:buSzPts val="1470"/>
              <a:buFont typeface="Arial"/>
              <a:buChar char="•"/>
            </a:pPr>
            <a:r>
              <a:rPr lang="vi-VN" sz="1800" dirty="0"/>
              <a:t>Xử lý kết quả: kết quả được chuyển thành các dictionary chứa thông tin </a:t>
            </a:r>
          </a:p>
          <a:p>
            <a:pPr marL="177746" lvl="0" indent="-177746" algn="l" rtl="0">
              <a:lnSpc>
                <a:spcPct val="128571"/>
              </a:lnSpc>
              <a:spcBef>
                <a:spcPts val="0"/>
              </a:spcBef>
              <a:spcAft>
                <a:spcPts val="0"/>
              </a:spcAft>
              <a:buClr>
                <a:srgbClr val="262626"/>
              </a:buClr>
              <a:buSzPts val="1470"/>
              <a:buFont typeface="Arial"/>
              <a:buChar char="•"/>
            </a:pPr>
            <a:r>
              <a:rPr lang="vi-VN" sz="1800" dirty="0"/>
              <a:t>Xác định hướng mũi tên trên biển báo: sử dụng ArrowDetector sử dụng Computer Vision để xác định hướng mũi tên trên biển báo chỉ dẫn theo các hướng</a:t>
            </a:r>
          </a:p>
        </p:txBody>
      </p:sp>
      <p:sp>
        <p:nvSpPr>
          <p:cNvPr id="7" name="Google Shape;158;p21">
            <a:extLst>
              <a:ext uri="{FF2B5EF4-FFF2-40B4-BE49-F238E27FC236}">
                <a16:creationId xmlns:a16="http://schemas.microsoft.com/office/drawing/2014/main" id="{20308289-F2D2-2F49-951F-DBC8E030EB56}"/>
              </a:ext>
            </a:extLst>
          </p:cNvPr>
          <p:cNvSpPr txBox="1">
            <a:spLocks/>
          </p:cNvSpPr>
          <p:nvPr/>
        </p:nvSpPr>
        <p:spPr>
          <a:xfrm>
            <a:off x="279288" y="431911"/>
            <a:ext cx="7105500" cy="5538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lt1"/>
              </a:buClr>
              <a:buSzPts val="1799"/>
              <a:buFont typeface="Arial"/>
              <a:buNone/>
              <a:defRPr sz="1799" b="0" i="0" u="none" strike="noStrike" cap="none">
                <a:solidFill>
                  <a:schemeClr val="lt1"/>
                </a:solidFill>
                <a:latin typeface="Arial"/>
                <a:ea typeface="Arial"/>
                <a:cs typeface="Arial"/>
                <a:sym typeface="Arial"/>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Arial"/>
                <a:ea typeface="Arial"/>
                <a:cs typeface="Arial"/>
                <a:sym typeface="Arial"/>
              </a:defRPr>
            </a:lvl2pPr>
            <a:lvl3pPr marL="1371600" marR="0" lvl="2" indent="-355536" algn="l" rtl="0">
              <a:lnSpc>
                <a:spcPct val="90000"/>
              </a:lnSpc>
              <a:spcBef>
                <a:spcPts val="500"/>
              </a:spcBef>
              <a:spcAft>
                <a:spcPts val="0"/>
              </a:spcAft>
              <a:buClr>
                <a:schemeClr val="dk1"/>
              </a:buClr>
              <a:buSzPts val="1999"/>
              <a:buFont typeface="Arial"/>
              <a:buChar char="•"/>
              <a:defRPr sz="1999" b="0" i="0" u="none" strike="noStrike" cap="none">
                <a:solidFill>
                  <a:schemeClr val="dk1"/>
                </a:solidFill>
                <a:latin typeface="Arial"/>
                <a:ea typeface="Arial"/>
                <a:cs typeface="Arial"/>
                <a:sym typeface="Arial"/>
              </a:defRPr>
            </a:lvl3pPr>
            <a:lvl4pPr marL="1828800" marR="0" lvl="3"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4pPr>
            <a:lvl5pPr marL="2286000" marR="0" lvl="4"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5pPr>
            <a:lvl6pPr marL="2743200" marR="0" lvl="5"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6pPr>
            <a:lvl7pPr marL="3200400" marR="0" lvl="6"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7pPr>
            <a:lvl8pPr marL="3657600" marR="0" lvl="7"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8pPr>
            <a:lvl9pPr marL="4114800" marR="0" lvl="8"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9pPr>
          </a:lstStyle>
          <a:p>
            <a:pPr marL="0" indent="0">
              <a:buSzPts val="1700"/>
            </a:pPr>
            <a:r>
              <a:rPr lang="en-US"/>
              <a:t>II. Triển khai dự án</a:t>
            </a:r>
          </a:p>
          <a:p>
            <a:pPr marL="0" indent="0">
              <a:buSzPts val="1700"/>
            </a:pP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2"/>
          <p:cNvSpPr txBox="1">
            <a:spLocks noGrp="1"/>
          </p:cNvSpPr>
          <p:nvPr>
            <p:ph type="title"/>
          </p:nvPr>
        </p:nvSpPr>
        <p:spPr>
          <a:xfrm>
            <a:off x="279288" y="1218936"/>
            <a:ext cx="8541300" cy="492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C0C0C"/>
              </a:buClr>
              <a:buSzPts val="3200"/>
              <a:buFont typeface="Arial"/>
              <a:buNone/>
            </a:pPr>
            <a:r>
              <a:rPr lang="vi-VN" dirty="0"/>
              <a:t>Đọc ký tự trên biển báo</a:t>
            </a:r>
            <a:endParaRPr dirty="0"/>
          </a:p>
        </p:txBody>
      </p:sp>
      <p:sp>
        <p:nvSpPr>
          <p:cNvPr id="168" name="Google Shape;168;p22"/>
          <p:cNvSpPr txBox="1">
            <a:spLocks noGrp="1"/>
          </p:cNvSpPr>
          <p:nvPr>
            <p:ph type="body" idx="5"/>
          </p:nvPr>
        </p:nvSpPr>
        <p:spPr>
          <a:xfrm>
            <a:off x="522288" y="2221661"/>
            <a:ext cx="8055300" cy="4098752"/>
          </a:xfrm>
          <a:prstGeom prst="rect">
            <a:avLst/>
          </a:prstGeom>
          <a:noFill/>
          <a:ln>
            <a:noFill/>
          </a:ln>
        </p:spPr>
        <p:txBody>
          <a:bodyPr spcFirstLastPara="1" wrap="square" lIns="0" tIns="0" rIns="0" bIns="0" anchor="t" anchorCtr="0">
            <a:noAutofit/>
          </a:bodyPr>
          <a:lstStyle/>
          <a:p>
            <a:pPr marL="177746" lvl="0" indent="-177746" algn="l" rtl="0">
              <a:lnSpc>
                <a:spcPct val="128571"/>
              </a:lnSpc>
              <a:spcBef>
                <a:spcPts val="0"/>
              </a:spcBef>
              <a:spcAft>
                <a:spcPts val="0"/>
              </a:spcAft>
              <a:buClr>
                <a:srgbClr val="262626"/>
              </a:buClr>
              <a:buSzPts val="1470"/>
              <a:buFont typeface="Arial"/>
              <a:buChar char="•"/>
            </a:pPr>
            <a:r>
              <a:rPr lang="vi-VN" sz="2000" dirty="0"/>
              <a:t>Crop các vùng biển báo nghi ngờ có chữ</a:t>
            </a:r>
          </a:p>
          <a:p>
            <a:pPr marL="177746" lvl="0" indent="-177746" algn="l" rtl="0">
              <a:lnSpc>
                <a:spcPct val="128571"/>
              </a:lnSpc>
              <a:spcBef>
                <a:spcPts val="0"/>
              </a:spcBef>
              <a:spcAft>
                <a:spcPts val="0"/>
              </a:spcAft>
              <a:buClr>
                <a:srgbClr val="262626"/>
              </a:buClr>
              <a:buSzPts val="1470"/>
              <a:buFont typeface="Arial"/>
              <a:buChar char="•"/>
            </a:pPr>
            <a:r>
              <a:rPr lang="vi-VN" sz="2000" dirty="0"/>
              <a:t>Đưa ảnh vào mô hình Vintern để sinh ra text mô tả ký tự trên biển báo</a:t>
            </a:r>
          </a:p>
          <a:p>
            <a:pPr marL="177746" lvl="0" indent="-177746" algn="l" rtl="0">
              <a:lnSpc>
                <a:spcPct val="128571"/>
              </a:lnSpc>
              <a:spcBef>
                <a:spcPts val="0"/>
              </a:spcBef>
              <a:spcAft>
                <a:spcPts val="0"/>
              </a:spcAft>
              <a:buClr>
                <a:srgbClr val="262626"/>
              </a:buClr>
              <a:buSzPts val="1470"/>
              <a:buFont typeface="Arial"/>
              <a:buChar char="•"/>
            </a:pPr>
            <a:r>
              <a:rPr lang="vi-VN" sz="2000" dirty="0"/>
              <a:t>Tiền xử lý để loại bỏ thông tin không cần thiết</a:t>
            </a:r>
          </a:p>
          <a:p>
            <a:pPr marL="177746" lvl="0" indent="-177746" algn="l" rtl="0">
              <a:lnSpc>
                <a:spcPct val="128571"/>
              </a:lnSpc>
              <a:spcBef>
                <a:spcPts val="0"/>
              </a:spcBef>
              <a:spcAft>
                <a:spcPts val="0"/>
              </a:spcAft>
              <a:buClr>
                <a:srgbClr val="262626"/>
              </a:buClr>
              <a:buSzPts val="1470"/>
              <a:buFont typeface="Arial"/>
              <a:buChar char="•"/>
            </a:pPr>
            <a:r>
              <a:rPr lang="vi-VN" sz="2000" dirty="0"/>
              <a:t>Kết hợp Computer Vision (Arrow Detector) với NLP</a:t>
            </a:r>
          </a:p>
          <a:p>
            <a:pPr marL="0" lvl="0" indent="0" algn="l" rtl="0">
              <a:lnSpc>
                <a:spcPct val="128571"/>
              </a:lnSpc>
              <a:spcBef>
                <a:spcPts val="0"/>
              </a:spcBef>
              <a:spcAft>
                <a:spcPts val="0"/>
              </a:spcAft>
              <a:buClr>
                <a:srgbClr val="262626"/>
              </a:buClr>
              <a:buSzPts val="1470"/>
              <a:buNone/>
            </a:pPr>
            <a:endParaRPr lang="vi-VN" sz="2000" dirty="0"/>
          </a:p>
        </p:txBody>
      </p:sp>
      <p:sp>
        <p:nvSpPr>
          <p:cNvPr id="7" name="Google Shape;158;p21">
            <a:extLst>
              <a:ext uri="{FF2B5EF4-FFF2-40B4-BE49-F238E27FC236}">
                <a16:creationId xmlns:a16="http://schemas.microsoft.com/office/drawing/2014/main" id="{20308289-F2D2-2F49-951F-DBC8E030EB56}"/>
              </a:ext>
            </a:extLst>
          </p:cNvPr>
          <p:cNvSpPr txBox="1">
            <a:spLocks/>
          </p:cNvSpPr>
          <p:nvPr/>
        </p:nvSpPr>
        <p:spPr>
          <a:xfrm>
            <a:off x="279288" y="431911"/>
            <a:ext cx="7105500" cy="5538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lt1"/>
              </a:buClr>
              <a:buSzPts val="1799"/>
              <a:buFont typeface="Arial"/>
              <a:buNone/>
              <a:defRPr sz="1799" b="0" i="0" u="none" strike="noStrike" cap="none">
                <a:solidFill>
                  <a:schemeClr val="lt1"/>
                </a:solidFill>
                <a:latin typeface="Arial"/>
                <a:ea typeface="Arial"/>
                <a:cs typeface="Arial"/>
                <a:sym typeface="Arial"/>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Arial"/>
                <a:ea typeface="Arial"/>
                <a:cs typeface="Arial"/>
                <a:sym typeface="Arial"/>
              </a:defRPr>
            </a:lvl2pPr>
            <a:lvl3pPr marL="1371600" marR="0" lvl="2" indent="-355536" algn="l" rtl="0">
              <a:lnSpc>
                <a:spcPct val="90000"/>
              </a:lnSpc>
              <a:spcBef>
                <a:spcPts val="500"/>
              </a:spcBef>
              <a:spcAft>
                <a:spcPts val="0"/>
              </a:spcAft>
              <a:buClr>
                <a:schemeClr val="dk1"/>
              </a:buClr>
              <a:buSzPts val="1999"/>
              <a:buFont typeface="Arial"/>
              <a:buChar char="•"/>
              <a:defRPr sz="1999" b="0" i="0" u="none" strike="noStrike" cap="none">
                <a:solidFill>
                  <a:schemeClr val="dk1"/>
                </a:solidFill>
                <a:latin typeface="Arial"/>
                <a:ea typeface="Arial"/>
                <a:cs typeface="Arial"/>
                <a:sym typeface="Arial"/>
              </a:defRPr>
            </a:lvl3pPr>
            <a:lvl4pPr marL="1828800" marR="0" lvl="3"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4pPr>
            <a:lvl5pPr marL="2286000" marR="0" lvl="4"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5pPr>
            <a:lvl6pPr marL="2743200" marR="0" lvl="5"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6pPr>
            <a:lvl7pPr marL="3200400" marR="0" lvl="6"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7pPr>
            <a:lvl8pPr marL="3657600" marR="0" lvl="7"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8pPr>
            <a:lvl9pPr marL="4114800" marR="0" lvl="8"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9pPr>
          </a:lstStyle>
          <a:p>
            <a:pPr marL="0" indent="0">
              <a:buSzPts val="1700"/>
            </a:pPr>
            <a:r>
              <a:rPr lang="en-US"/>
              <a:t>II. Triển khai dự án</a:t>
            </a:r>
          </a:p>
          <a:p>
            <a:pPr marL="0" indent="0">
              <a:buSzPts val="1700"/>
            </a:pPr>
            <a:endParaRPr lang="en-US"/>
          </a:p>
        </p:txBody>
      </p:sp>
    </p:spTree>
    <p:extLst>
      <p:ext uri="{BB962C8B-B14F-4D97-AF65-F5344CB8AC3E}">
        <p14:creationId xmlns:p14="http://schemas.microsoft.com/office/powerpoint/2010/main" val="35716076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C75C3-A5A5-0B9F-6E0F-30285205A267}"/>
              </a:ext>
            </a:extLst>
          </p:cNvPr>
          <p:cNvSpPr>
            <a:spLocks noGrp="1"/>
          </p:cNvSpPr>
          <p:nvPr>
            <p:ph type="title"/>
          </p:nvPr>
        </p:nvSpPr>
        <p:spPr>
          <a:xfrm>
            <a:off x="1873154" y="1046462"/>
            <a:ext cx="8541187" cy="246221"/>
          </a:xfrm>
        </p:spPr>
        <p:txBody>
          <a:bodyPr/>
          <a:lstStyle/>
          <a:p>
            <a:r>
              <a:rPr lang="en-US" sz="1600" dirty="0" err="1"/>
              <a:t>Sơ</a:t>
            </a:r>
            <a:r>
              <a:rPr lang="en-US" sz="1600" dirty="0"/>
              <a:t> </a:t>
            </a:r>
            <a:r>
              <a:rPr lang="en-US" sz="1600" dirty="0" err="1"/>
              <a:t>đồ</a:t>
            </a:r>
            <a:r>
              <a:rPr lang="en-US" sz="1600" dirty="0"/>
              <a:t> </a:t>
            </a:r>
            <a:r>
              <a:rPr lang="en-US" sz="1600" dirty="0" err="1"/>
              <a:t>hoạt</a:t>
            </a:r>
            <a:r>
              <a:rPr lang="en-US" sz="1600" dirty="0"/>
              <a:t> </a:t>
            </a:r>
            <a:r>
              <a:rPr lang="en-US" sz="1600" dirty="0" err="1"/>
              <a:t>động</a:t>
            </a:r>
            <a:r>
              <a:rPr lang="en-US" sz="1600" dirty="0"/>
              <a:t> </a:t>
            </a:r>
            <a:r>
              <a:rPr lang="en-US" sz="1600" dirty="0" err="1"/>
              <a:t>của</a:t>
            </a:r>
            <a:r>
              <a:rPr lang="en-US" sz="1600" dirty="0"/>
              <a:t> </a:t>
            </a:r>
            <a:r>
              <a:rPr lang="en-US" sz="1600" dirty="0" err="1"/>
              <a:t>thuật</a:t>
            </a:r>
            <a:r>
              <a:rPr lang="en-US" sz="1600" dirty="0"/>
              <a:t> </a:t>
            </a:r>
            <a:r>
              <a:rPr lang="en-US" sz="1600" dirty="0" err="1"/>
              <a:t>toán</a:t>
            </a:r>
            <a:r>
              <a:rPr lang="en-US" sz="1600" dirty="0"/>
              <a:t> </a:t>
            </a:r>
            <a:r>
              <a:rPr lang="en-US" sz="1600" dirty="0" err="1"/>
              <a:t>nhận</a:t>
            </a:r>
            <a:r>
              <a:rPr lang="en-US" sz="1600" dirty="0"/>
              <a:t> </a:t>
            </a:r>
            <a:r>
              <a:rPr lang="en-US" sz="1600" dirty="0" err="1"/>
              <a:t>diện</a:t>
            </a:r>
            <a:r>
              <a:rPr lang="en-US" sz="1600" dirty="0"/>
              <a:t> </a:t>
            </a:r>
            <a:r>
              <a:rPr lang="en-US" sz="1600" dirty="0" err="1"/>
              <a:t>biển</a:t>
            </a:r>
            <a:r>
              <a:rPr lang="en-US" sz="1600" dirty="0"/>
              <a:t> </a:t>
            </a:r>
            <a:r>
              <a:rPr lang="en-US" sz="1600" dirty="0" err="1"/>
              <a:t>báo</a:t>
            </a:r>
            <a:r>
              <a:rPr lang="en-US" sz="1600" dirty="0"/>
              <a:t> </a:t>
            </a:r>
            <a:r>
              <a:rPr lang="en-US" sz="1600" dirty="0" err="1"/>
              <a:t>có</a:t>
            </a:r>
            <a:r>
              <a:rPr lang="en-US" sz="1600" dirty="0"/>
              <a:t> </a:t>
            </a:r>
            <a:r>
              <a:rPr lang="en-US" sz="1600" dirty="0" err="1"/>
              <a:t>mũi</a:t>
            </a:r>
            <a:r>
              <a:rPr lang="en-US" sz="1600" dirty="0"/>
              <a:t> </a:t>
            </a:r>
            <a:r>
              <a:rPr lang="en-US" sz="1600" dirty="0" err="1"/>
              <a:t>tên</a:t>
            </a:r>
            <a:endParaRPr lang="en-US" sz="1600" dirty="0"/>
          </a:p>
        </p:txBody>
      </p:sp>
      <p:pic>
        <p:nvPicPr>
          <p:cNvPr id="3" name="Picture 2">
            <a:extLst>
              <a:ext uri="{FF2B5EF4-FFF2-40B4-BE49-F238E27FC236}">
                <a16:creationId xmlns:a16="http://schemas.microsoft.com/office/drawing/2014/main" id="{72AFAE8D-49E4-4F96-D886-5C008DBA38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9237" y="1371600"/>
            <a:ext cx="4747190" cy="5015949"/>
          </a:xfrm>
          <a:prstGeom prst="rect">
            <a:avLst/>
          </a:prstGeom>
          <a:ln w="12700">
            <a:solidFill>
              <a:schemeClr val="tx1"/>
            </a:solidFill>
          </a:ln>
        </p:spPr>
      </p:pic>
    </p:spTree>
    <p:extLst>
      <p:ext uri="{BB962C8B-B14F-4D97-AF65-F5344CB8AC3E}">
        <p14:creationId xmlns:p14="http://schemas.microsoft.com/office/powerpoint/2010/main" val="41464437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2"/>
          <p:cNvSpPr txBox="1">
            <a:spLocks noGrp="1"/>
          </p:cNvSpPr>
          <p:nvPr>
            <p:ph type="title"/>
          </p:nvPr>
        </p:nvSpPr>
        <p:spPr>
          <a:xfrm>
            <a:off x="279288" y="1218936"/>
            <a:ext cx="8541300" cy="492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C0C0C"/>
              </a:buClr>
              <a:buSzPts val="3200"/>
              <a:buFont typeface="Arial"/>
              <a:buNone/>
            </a:pPr>
            <a:r>
              <a:rPr lang="vi-VN" dirty="0"/>
              <a:t>Quản lý Cache OCR</a:t>
            </a:r>
            <a:endParaRPr dirty="0"/>
          </a:p>
        </p:txBody>
      </p:sp>
      <p:sp>
        <p:nvSpPr>
          <p:cNvPr id="168" name="Google Shape;168;p22"/>
          <p:cNvSpPr txBox="1">
            <a:spLocks noGrp="1"/>
          </p:cNvSpPr>
          <p:nvPr>
            <p:ph type="body" idx="5"/>
          </p:nvPr>
        </p:nvSpPr>
        <p:spPr>
          <a:xfrm>
            <a:off x="522288" y="2221661"/>
            <a:ext cx="8055300" cy="4098752"/>
          </a:xfrm>
          <a:prstGeom prst="rect">
            <a:avLst/>
          </a:prstGeom>
          <a:noFill/>
          <a:ln>
            <a:noFill/>
          </a:ln>
        </p:spPr>
        <p:txBody>
          <a:bodyPr spcFirstLastPara="1" wrap="square" lIns="0" tIns="0" rIns="0" bIns="0" anchor="t" anchorCtr="0">
            <a:noAutofit/>
          </a:bodyPr>
          <a:lstStyle/>
          <a:p>
            <a:pPr marL="177746" lvl="0" indent="-177746" algn="l" rtl="0">
              <a:lnSpc>
                <a:spcPct val="128571"/>
              </a:lnSpc>
              <a:spcBef>
                <a:spcPts val="0"/>
              </a:spcBef>
              <a:spcAft>
                <a:spcPts val="0"/>
              </a:spcAft>
              <a:buClr>
                <a:srgbClr val="262626"/>
              </a:buClr>
              <a:buSzPts val="1470"/>
              <a:buFont typeface="Arial"/>
              <a:buChar char="•"/>
            </a:pPr>
            <a:r>
              <a:rPr lang="vi-VN" sz="1800" dirty="0"/>
              <a:t>OCR (Optical Character Recognition - Công nghệ nhận diện và chuyển đổi ký tự từ hình ảnh sang dạng văn bản số) các biển báo đã xử lý ở các frame trước, giúp tăng tốc và giảm tài nguyên cho hệ thống</a:t>
            </a:r>
          </a:p>
          <a:p>
            <a:pPr marL="177746" lvl="0" indent="-177746" algn="l" rtl="0">
              <a:lnSpc>
                <a:spcPct val="128571"/>
              </a:lnSpc>
              <a:spcBef>
                <a:spcPts val="0"/>
              </a:spcBef>
              <a:spcAft>
                <a:spcPts val="0"/>
              </a:spcAft>
              <a:buClr>
                <a:srgbClr val="262626"/>
              </a:buClr>
              <a:buSzPts val="1470"/>
              <a:buFont typeface="Arial"/>
              <a:buChar char="•"/>
            </a:pPr>
            <a:endParaRPr lang="vi-VN" sz="1800" dirty="0"/>
          </a:p>
          <a:p>
            <a:pPr marL="177746" lvl="0" indent="-177746" algn="l" rtl="0">
              <a:lnSpc>
                <a:spcPct val="128571"/>
              </a:lnSpc>
              <a:spcBef>
                <a:spcPts val="0"/>
              </a:spcBef>
              <a:spcAft>
                <a:spcPts val="0"/>
              </a:spcAft>
              <a:buClr>
                <a:srgbClr val="262626"/>
              </a:buClr>
              <a:buSzPts val="1470"/>
              <a:buFont typeface="Arial"/>
              <a:buChar char="•"/>
            </a:pPr>
            <a:r>
              <a:rPr lang="vi-VN" sz="1800" dirty="0"/>
              <a:t>Theo dõi đối tượng (Object Tracking)</a:t>
            </a:r>
          </a:p>
        </p:txBody>
      </p:sp>
      <p:sp>
        <p:nvSpPr>
          <p:cNvPr id="7" name="Google Shape;158;p21">
            <a:extLst>
              <a:ext uri="{FF2B5EF4-FFF2-40B4-BE49-F238E27FC236}">
                <a16:creationId xmlns:a16="http://schemas.microsoft.com/office/drawing/2014/main" id="{20308289-F2D2-2F49-951F-DBC8E030EB56}"/>
              </a:ext>
            </a:extLst>
          </p:cNvPr>
          <p:cNvSpPr txBox="1">
            <a:spLocks/>
          </p:cNvSpPr>
          <p:nvPr/>
        </p:nvSpPr>
        <p:spPr>
          <a:xfrm>
            <a:off x="279288" y="431911"/>
            <a:ext cx="7105500" cy="5538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lt1"/>
              </a:buClr>
              <a:buSzPts val="1799"/>
              <a:buFont typeface="Arial"/>
              <a:buNone/>
              <a:defRPr sz="1799" b="0" i="0" u="none" strike="noStrike" cap="none">
                <a:solidFill>
                  <a:schemeClr val="lt1"/>
                </a:solidFill>
                <a:latin typeface="Arial"/>
                <a:ea typeface="Arial"/>
                <a:cs typeface="Arial"/>
                <a:sym typeface="Arial"/>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Arial"/>
                <a:ea typeface="Arial"/>
                <a:cs typeface="Arial"/>
                <a:sym typeface="Arial"/>
              </a:defRPr>
            </a:lvl2pPr>
            <a:lvl3pPr marL="1371600" marR="0" lvl="2" indent="-355536" algn="l" rtl="0">
              <a:lnSpc>
                <a:spcPct val="90000"/>
              </a:lnSpc>
              <a:spcBef>
                <a:spcPts val="500"/>
              </a:spcBef>
              <a:spcAft>
                <a:spcPts val="0"/>
              </a:spcAft>
              <a:buClr>
                <a:schemeClr val="dk1"/>
              </a:buClr>
              <a:buSzPts val="1999"/>
              <a:buFont typeface="Arial"/>
              <a:buChar char="•"/>
              <a:defRPr sz="1999" b="0" i="0" u="none" strike="noStrike" cap="none">
                <a:solidFill>
                  <a:schemeClr val="dk1"/>
                </a:solidFill>
                <a:latin typeface="Arial"/>
                <a:ea typeface="Arial"/>
                <a:cs typeface="Arial"/>
                <a:sym typeface="Arial"/>
              </a:defRPr>
            </a:lvl3pPr>
            <a:lvl4pPr marL="1828800" marR="0" lvl="3"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4pPr>
            <a:lvl5pPr marL="2286000" marR="0" lvl="4"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5pPr>
            <a:lvl6pPr marL="2743200" marR="0" lvl="5"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6pPr>
            <a:lvl7pPr marL="3200400" marR="0" lvl="6"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7pPr>
            <a:lvl8pPr marL="3657600" marR="0" lvl="7"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8pPr>
            <a:lvl9pPr marL="4114800" marR="0" lvl="8"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9pPr>
          </a:lstStyle>
          <a:p>
            <a:pPr marL="0" indent="0">
              <a:buSzPts val="1700"/>
            </a:pPr>
            <a:r>
              <a:rPr lang="en-US"/>
              <a:t>II. Triển khai dự án</a:t>
            </a:r>
          </a:p>
          <a:p>
            <a:pPr marL="0" indent="0">
              <a:buSzPts val="1700"/>
            </a:pPr>
            <a:endParaRPr lang="en-US"/>
          </a:p>
        </p:txBody>
      </p:sp>
    </p:spTree>
    <p:extLst>
      <p:ext uri="{BB962C8B-B14F-4D97-AF65-F5344CB8AC3E}">
        <p14:creationId xmlns:p14="http://schemas.microsoft.com/office/powerpoint/2010/main" val="3111217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2"/>
          <p:cNvSpPr txBox="1">
            <a:spLocks noGrp="1"/>
          </p:cNvSpPr>
          <p:nvPr>
            <p:ph type="title"/>
          </p:nvPr>
        </p:nvSpPr>
        <p:spPr>
          <a:xfrm>
            <a:off x="279288" y="1218936"/>
            <a:ext cx="8541300" cy="492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C0C0C"/>
              </a:buClr>
              <a:buSzPts val="3200"/>
              <a:buFont typeface="Arial"/>
              <a:buNone/>
            </a:pPr>
            <a:r>
              <a:rPr lang="vi-VN" dirty="0"/>
              <a:t>Luồng xử lý chính</a:t>
            </a:r>
            <a:endParaRPr dirty="0"/>
          </a:p>
        </p:txBody>
      </p:sp>
      <p:sp>
        <p:nvSpPr>
          <p:cNvPr id="168" name="Google Shape;168;p22"/>
          <p:cNvSpPr txBox="1">
            <a:spLocks noGrp="1"/>
          </p:cNvSpPr>
          <p:nvPr>
            <p:ph type="body" idx="5"/>
          </p:nvPr>
        </p:nvSpPr>
        <p:spPr>
          <a:xfrm>
            <a:off x="361817" y="1819727"/>
            <a:ext cx="8055300" cy="4098752"/>
          </a:xfrm>
          <a:prstGeom prst="rect">
            <a:avLst/>
          </a:prstGeom>
          <a:noFill/>
          <a:ln>
            <a:noFill/>
          </a:ln>
        </p:spPr>
        <p:txBody>
          <a:bodyPr spcFirstLastPara="1" wrap="square" lIns="0" tIns="0" rIns="0" bIns="0" anchor="t" anchorCtr="0">
            <a:noAutofit/>
          </a:bodyPr>
          <a:lstStyle/>
          <a:p>
            <a:pPr marL="177746" lvl="0" indent="-177746" algn="l" rtl="0">
              <a:lnSpc>
                <a:spcPct val="128571"/>
              </a:lnSpc>
              <a:spcBef>
                <a:spcPts val="0"/>
              </a:spcBef>
              <a:spcAft>
                <a:spcPts val="0"/>
              </a:spcAft>
              <a:buClr>
                <a:srgbClr val="262626"/>
              </a:buClr>
              <a:buSzPts val="1470"/>
              <a:buFont typeface="Arial"/>
              <a:buChar char="•"/>
            </a:pPr>
            <a:r>
              <a:rPr lang="vi-VN" sz="1800" dirty="0"/>
              <a:t>Đọc frame từ webcam/video</a:t>
            </a:r>
          </a:p>
          <a:p>
            <a:pPr marL="177746" lvl="0" indent="-177746" algn="l" rtl="0">
              <a:lnSpc>
                <a:spcPct val="128571"/>
              </a:lnSpc>
              <a:spcBef>
                <a:spcPts val="0"/>
              </a:spcBef>
              <a:spcAft>
                <a:spcPts val="0"/>
              </a:spcAft>
              <a:buClr>
                <a:srgbClr val="262626"/>
              </a:buClr>
              <a:buSzPts val="1470"/>
              <a:buFont typeface="Arial"/>
              <a:buChar char="•"/>
            </a:pPr>
            <a:r>
              <a:rPr lang="vi-VN" sz="1800" dirty="0"/>
              <a:t>Phát hiện biển báo bằng YOLOv8</a:t>
            </a:r>
          </a:p>
          <a:p>
            <a:pPr marL="177746" lvl="0" indent="-177746" algn="l" rtl="0">
              <a:lnSpc>
                <a:spcPct val="128571"/>
              </a:lnSpc>
              <a:spcBef>
                <a:spcPts val="0"/>
              </a:spcBef>
              <a:spcAft>
                <a:spcPts val="0"/>
              </a:spcAft>
              <a:buClr>
                <a:srgbClr val="262626"/>
              </a:buClr>
              <a:buSzPts val="1470"/>
              <a:buFont typeface="Arial"/>
              <a:buChar char="•"/>
            </a:pPr>
            <a:r>
              <a:rPr lang="vi-VN" sz="1800" dirty="0"/>
              <a:t>Với mỗi biển báo nghi ngờ: lặp qua từng object đã detect, lấy box, class, confidence</a:t>
            </a:r>
          </a:p>
          <a:p>
            <a:pPr marL="177746" lvl="0" indent="-177746" algn="l" rtl="0">
              <a:lnSpc>
                <a:spcPct val="128571"/>
              </a:lnSpc>
              <a:spcBef>
                <a:spcPts val="0"/>
              </a:spcBef>
              <a:spcAft>
                <a:spcPts val="0"/>
              </a:spcAft>
              <a:buClr>
                <a:srgbClr val="262626"/>
              </a:buClr>
              <a:buSzPts val="1470"/>
              <a:buFont typeface="Arial"/>
              <a:buChar char="•"/>
            </a:pPr>
            <a:r>
              <a:rPr lang="vi-VN" sz="1800" dirty="0"/>
              <a:t>Nếu là biển chỉ dẫn (có thể có mũi tên/chữ), crop vùng ảnh</a:t>
            </a:r>
          </a:p>
          <a:p>
            <a:pPr marL="177746" lvl="0" indent="-177746" algn="l" rtl="0">
              <a:lnSpc>
                <a:spcPct val="128571"/>
              </a:lnSpc>
              <a:spcBef>
                <a:spcPts val="0"/>
              </a:spcBef>
              <a:spcAft>
                <a:spcPts val="0"/>
              </a:spcAft>
              <a:buClr>
                <a:srgbClr val="262626"/>
              </a:buClr>
              <a:buSzPts val="1470"/>
              <a:buFont typeface="Arial"/>
              <a:buChar char="•"/>
            </a:pPr>
            <a:r>
              <a:rPr lang="vi-VN" sz="1800" dirty="0"/>
              <a:t>Kiểm tra cache, nếu chưa có thì đưa vào hàng đợi OCR</a:t>
            </a:r>
          </a:p>
          <a:p>
            <a:pPr marL="177746" lvl="0" indent="-177746" algn="l" rtl="0">
              <a:lnSpc>
                <a:spcPct val="128571"/>
              </a:lnSpc>
              <a:spcBef>
                <a:spcPts val="0"/>
              </a:spcBef>
              <a:spcAft>
                <a:spcPts val="0"/>
              </a:spcAft>
              <a:buClr>
                <a:srgbClr val="262626"/>
              </a:buClr>
              <a:buSzPts val="1470"/>
              <a:buFont typeface="Arial"/>
              <a:buChar char="•"/>
            </a:pPr>
            <a:r>
              <a:rPr lang="vi-VN" sz="1800" dirty="0"/>
              <a:t>Hiển thị và lưu video</a:t>
            </a:r>
          </a:p>
          <a:p>
            <a:pPr marL="177746" lvl="0" indent="-177746" algn="l" rtl="0">
              <a:lnSpc>
                <a:spcPct val="128571"/>
              </a:lnSpc>
              <a:spcBef>
                <a:spcPts val="0"/>
              </a:spcBef>
              <a:spcAft>
                <a:spcPts val="0"/>
              </a:spcAft>
              <a:buClr>
                <a:srgbClr val="262626"/>
              </a:buClr>
              <a:buSzPts val="1470"/>
              <a:buFont typeface="Arial"/>
              <a:buChar char="•"/>
            </a:pPr>
            <a:r>
              <a:rPr lang="vi-VN" sz="1800" dirty="0"/>
              <a:t>Kết thúc</a:t>
            </a:r>
          </a:p>
          <a:p>
            <a:pPr marL="177746" lvl="0" indent="-177746" algn="l" rtl="0">
              <a:lnSpc>
                <a:spcPct val="128571"/>
              </a:lnSpc>
              <a:spcBef>
                <a:spcPts val="0"/>
              </a:spcBef>
              <a:spcAft>
                <a:spcPts val="0"/>
              </a:spcAft>
              <a:buClr>
                <a:srgbClr val="262626"/>
              </a:buClr>
              <a:buSzPts val="1470"/>
              <a:buFont typeface="Arial"/>
              <a:buChar char="•"/>
            </a:pPr>
            <a:endParaRPr lang="vi-VN" sz="1800" dirty="0"/>
          </a:p>
        </p:txBody>
      </p:sp>
      <p:sp>
        <p:nvSpPr>
          <p:cNvPr id="7" name="Google Shape;158;p21">
            <a:extLst>
              <a:ext uri="{FF2B5EF4-FFF2-40B4-BE49-F238E27FC236}">
                <a16:creationId xmlns:a16="http://schemas.microsoft.com/office/drawing/2014/main" id="{20308289-F2D2-2F49-951F-DBC8E030EB56}"/>
              </a:ext>
            </a:extLst>
          </p:cNvPr>
          <p:cNvSpPr txBox="1">
            <a:spLocks/>
          </p:cNvSpPr>
          <p:nvPr/>
        </p:nvSpPr>
        <p:spPr>
          <a:xfrm>
            <a:off x="279288" y="431911"/>
            <a:ext cx="7105500" cy="5538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lt1"/>
              </a:buClr>
              <a:buSzPts val="1799"/>
              <a:buFont typeface="Arial"/>
              <a:buNone/>
              <a:defRPr sz="1799" b="0" i="0" u="none" strike="noStrike" cap="none">
                <a:solidFill>
                  <a:schemeClr val="lt1"/>
                </a:solidFill>
                <a:latin typeface="Arial"/>
                <a:ea typeface="Arial"/>
                <a:cs typeface="Arial"/>
                <a:sym typeface="Arial"/>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Arial"/>
                <a:ea typeface="Arial"/>
                <a:cs typeface="Arial"/>
                <a:sym typeface="Arial"/>
              </a:defRPr>
            </a:lvl2pPr>
            <a:lvl3pPr marL="1371600" marR="0" lvl="2" indent="-355536" algn="l" rtl="0">
              <a:lnSpc>
                <a:spcPct val="90000"/>
              </a:lnSpc>
              <a:spcBef>
                <a:spcPts val="500"/>
              </a:spcBef>
              <a:spcAft>
                <a:spcPts val="0"/>
              </a:spcAft>
              <a:buClr>
                <a:schemeClr val="dk1"/>
              </a:buClr>
              <a:buSzPts val="1999"/>
              <a:buFont typeface="Arial"/>
              <a:buChar char="•"/>
              <a:defRPr sz="1999" b="0" i="0" u="none" strike="noStrike" cap="none">
                <a:solidFill>
                  <a:schemeClr val="dk1"/>
                </a:solidFill>
                <a:latin typeface="Arial"/>
                <a:ea typeface="Arial"/>
                <a:cs typeface="Arial"/>
                <a:sym typeface="Arial"/>
              </a:defRPr>
            </a:lvl3pPr>
            <a:lvl4pPr marL="1828800" marR="0" lvl="3"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4pPr>
            <a:lvl5pPr marL="2286000" marR="0" lvl="4"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5pPr>
            <a:lvl6pPr marL="2743200" marR="0" lvl="5"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6pPr>
            <a:lvl7pPr marL="3200400" marR="0" lvl="6"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7pPr>
            <a:lvl8pPr marL="3657600" marR="0" lvl="7"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8pPr>
            <a:lvl9pPr marL="4114800" marR="0" lvl="8"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9pPr>
          </a:lstStyle>
          <a:p>
            <a:pPr marL="0" indent="0">
              <a:buSzPts val="1700"/>
            </a:pPr>
            <a:r>
              <a:rPr lang="en-US"/>
              <a:t>II. Triển khai dự án</a:t>
            </a:r>
          </a:p>
          <a:p>
            <a:pPr marL="0" indent="0">
              <a:buSzPts val="1700"/>
            </a:pPr>
            <a:endParaRPr lang="en-US"/>
          </a:p>
        </p:txBody>
      </p:sp>
      <p:pic>
        <p:nvPicPr>
          <p:cNvPr id="2" name="Picture 1">
            <a:extLst>
              <a:ext uri="{FF2B5EF4-FFF2-40B4-BE49-F238E27FC236}">
                <a16:creationId xmlns:a16="http://schemas.microsoft.com/office/drawing/2014/main" id="{E47ACEE6-B9D3-D34C-93D1-F20B996DE89A}"/>
              </a:ext>
            </a:extLst>
          </p:cNvPr>
          <p:cNvPicPr>
            <a:picLocks noChangeAspect="1"/>
          </p:cNvPicPr>
          <p:nvPr/>
        </p:nvPicPr>
        <p:blipFill>
          <a:blip r:embed="rId3"/>
          <a:stretch>
            <a:fillRect/>
          </a:stretch>
        </p:blipFill>
        <p:spPr>
          <a:xfrm>
            <a:off x="3667648" y="3928905"/>
            <a:ext cx="6235177" cy="2497184"/>
          </a:xfrm>
          <a:prstGeom prst="rect">
            <a:avLst/>
          </a:prstGeom>
        </p:spPr>
      </p:pic>
    </p:spTree>
    <p:extLst>
      <p:ext uri="{BB962C8B-B14F-4D97-AF65-F5344CB8AC3E}">
        <p14:creationId xmlns:p14="http://schemas.microsoft.com/office/powerpoint/2010/main" val="14596116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C75C3-A5A5-0B9F-6E0F-30285205A267}"/>
              </a:ext>
            </a:extLst>
          </p:cNvPr>
          <p:cNvSpPr>
            <a:spLocks noGrp="1"/>
          </p:cNvSpPr>
          <p:nvPr>
            <p:ph type="title"/>
          </p:nvPr>
        </p:nvSpPr>
        <p:spPr>
          <a:xfrm>
            <a:off x="4037620" y="1023312"/>
            <a:ext cx="8541187" cy="246221"/>
          </a:xfrm>
        </p:spPr>
        <p:txBody>
          <a:bodyPr/>
          <a:lstStyle/>
          <a:p>
            <a:r>
              <a:rPr lang="en-US" sz="1600" dirty="0" err="1"/>
              <a:t>Sơ</a:t>
            </a:r>
            <a:r>
              <a:rPr lang="en-US" sz="1600" dirty="0"/>
              <a:t> </a:t>
            </a:r>
            <a:r>
              <a:rPr lang="en-US" sz="1600" dirty="0" err="1"/>
              <a:t>đồ</a:t>
            </a:r>
            <a:r>
              <a:rPr lang="en-US" sz="1600" dirty="0"/>
              <a:t> </a:t>
            </a:r>
            <a:r>
              <a:rPr lang="en-US" sz="1600" dirty="0" err="1"/>
              <a:t>tổng</a:t>
            </a:r>
            <a:r>
              <a:rPr lang="en-US" sz="1600" dirty="0"/>
              <a:t> </a:t>
            </a:r>
            <a:r>
              <a:rPr lang="en-US" sz="1600" dirty="0" err="1"/>
              <a:t>quát</a:t>
            </a:r>
            <a:endParaRPr lang="en-US" sz="1600" dirty="0"/>
          </a:p>
        </p:txBody>
      </p:sp>
      <p:pic>
        <p:nvPicPr>
          <p:cNvPr id="4" name="Picture 3">
            <a:extLst>
              <a:ext uri="{FF2B5EF4-FFF2-40B4-BE49-F238E27FC236}">
                <a16:creationId xmlns:a16="http://schemas.microsoft.com/office/drawing/2014/main" id="{FC86BFDB-C611-3584-D842-3D0E1D234D75}"/>
              </a:ext>
            </a:extLst>
          </p:cNvPr>
          <p:cNvPicPr>
            <a:picLocks noChangeAspect="1"/>
          </p:cNvPicPr>
          <p:nvPr/>
        </p:nvPicPr>
        <p:blipFill>
          <a:blip r:embed="rId2"/>
          <a:stretch>
            <a:fillRect/>
          </a:stretch>
        </p:blipFill>
        <p:spPr>
          <a:xfrm>
            <a:off x="2218766" y="1443907"/>
            <a:ext cx="5136946" cy="4843276"/>
          </a:xfrm>
          <a:prstGeom prst="rect">
            <a:avLst/>
          </a:prstGeom>
          <a:ln w="12700">
            <a:solidFill>
              <a:schemeClr val="tx1"/>
            </a:solidFill>
          </a:ln>
        </p:spPr>
      </p:pic>
    </p:spTree>
    <p:extLst>
      <p:ext uri="{BB962C8B-B14F-4D97-AF65-F5344CB8AC3E}">
        <p14:creationId xmlns:p14="http://schemas.microsoft.com/office/powerpoint/2010/main" val="19623841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3"/>
          <p:cNvSpPr txBox="1">
            <a:spLocks noGrp="1"/>
          </p:cNvSpPr>
          <p:nvPr>
            <p:ph type="title"/>
          </p:nvPr>
        </p:nvSpPr>
        <p:spPr>
          <a:xfrm>
            <a:off x="449468" y="1440000"/>
            <a:ext cx="8541300" cy="492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C0C0C"/>
              </a:buClr>
              <a:buSzPts val="3200"/>
              <a:buFont typeface="Arial"/>
              <a:buNone/>
            </a:pPr>
            <a:r>
              <a:rPr lang="en-US" dirty="0"/>
              <a:t>3.2.Thử </a:t>
            </a:r>
            <a:r>
              <a:rPr lang="en-US" dirty="0" err="1"/>
              <a:t>nghiệm</a:t>
            </a:r>
            <a:r>
              <a:rPr lang="en-US" dirty="0"/>
              <a:t> </a:t>
            </a:r>
            <a:r>
              <a:rPr lang="en-US" dirty="0" err="1"/>
              <a:t>hệ</a:t>
            </a:r>
            <a:r>
              <a:rPr lang="en-US" dirty="0"/>
              <a:t> </a:t>
            </a:r>
            <a:r>
              <a:rPr lang="en-US" dirty="0" err="1"/>
              <a:t>thống</a:t>
            </a:r>
            <a:endParaRPr dirty="0"/>
          </a:p>
        </p:txBody>
      </p:sp>
      <p:sp>
        <p:nvSpPr>
          <p:cNvPr id="174" name="Google Shape;174;p23"/>
          <p:cNvSpPr txBox="1">
            <a:spLocks noGrp="1"/>
          </p:cNvSpPr>
          <p:nvPr>
            <p:ph type="body" idx="2"/>
          </p:nvPr>
        </p:nvSpPr>
        <p:spPr>
          <a:xfrm>
            <a:off x="522300" y="450000"/>
            <a:ext cx="7105500" cy="276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lt1"/>
              </a:buClr>
              <a:buSzPts val="1700"/>
              <a:buNone/>
            </a:pPr>
            <a:r>
              <a:rPr lang="en-US" dirty="0"/>
              <a:t>III. Demo &amp; </a:t>
            </a:r>
            <a:r>
              <a:rPr lang="en-US" dirty="0" err="1"/>
              <a:t>Tổng</a:t>
            </a:r>
            <a:r>
              <a:rPr lang="en-US" dirty="0"/>
              <a:t> </a:t>
            </a:r>
            <a:r>
              <a:rPr lang="en-US" dirty="0" err="1"/>
              <a:t>kết</a:t>
            </a:r>
            <a:endParaRPr dirty="0"/>
          </a:p>
        </p:txBody>
      </p:sp>
      <p:sp>
        <p:nvSpPr>
          <p:cNvPr id="175" name="Google Shape;175;p23"/>
          <p:cNvSpPr txBox="1">
            <a:spLocks noGrp="1"/>
          </p:cNvSpPr>
          <p:nvPr>
            <p:ph type="body" idx="5"/>
          </p:nvPr>
        </p:nvSpPr>
        <p:spPr>
          <a:xfrm>
            <a:off x="522288" y="2221661"/>
            <a:ext cx="8055300" cy="914400"/>
          </a:xfrm>
          <a:prstGeom prst="rect">
            <a:avLst/>
          </a:prstGeom>
          <a:noFill/>
          <a:ln>
            <a:noFill/>
          </a:ln>
        </p:spPr>
        <p:txBody>
          <a:bodyPr spcFirstLastPara="1" wrap="square" lIns="0" tIns="0" rIns="0" bIns="0" anchor="t" anchorCtr="0">
            <a:noAutofit/>
          </a:bodyPr>
          <a:lstStyle/>
          <a:p>
            <a:pPr marL="177746" lvl="0" indent="-177746" algn="l" rtl="0">
              <a:lnSpc>
                <a:spcPct val="128571"/>
              </a:lnSpc>
              <a:spcBef>
                <a:spcPts val="0"/>
              </a:spcBef>
              <a:spcAft>
                <a:spcPts val="0"/>
              </a:spcAft>
              <a:buClr>
                <a:srgbClr val="262626"/>
              </a:buClr>
              <a:buSzPts val="1470"/>
              <a:buFont typeface="Arial"/>
              <a:buChar char="•"/>
            </a:pPr>
            <a:r>
              <a:rPr lang="vi-VN" dirty="0"/>
              <a:t>Hệ thống đủ thông minh để nhận diện chính xác 12 lớp biển báo trong bộ dữ liệu với độ tin cậy khá cao (dao động trong khoảng 60% - 85% trong điều kiện từ trung bình đến tốt). Đặc biệt hệ thống tích hợp thành công mô hình xử lý ngôn ngữ tự nhiên NLP</a:t>
            </a:r>
            <a:endParaRPr dirty="0"/>
          </a:p>
        </p:txBody>
      </p:sp>
      <p:pic>
        <p:nvPicPr>
          <p:cNvPr id="2" name="Picture 1">
            <a:extLst>
              <a:ext uri="{FF2B5EF4-FFF2-40B4-BE49-F238E27FC236}">
                <a16:creationId xmlns:a16="http://schemas.microsoft.com/office/drawing/2014/main" id="{7E3FC9F5-AD67-064F-9F2F-12F955580286}"/>
              </a:ext>
            </a:extLst>
          </p:cNvPr>
          <p:cNvPicPr>
            <a:picLocks noChangeAspect="1"/>
          </p:cNvPicPr>
          <p:nvPr/>
        </p:nvPicPr>
        <p:blipFill>
          <a:blip r:embed="rId3"/>
          <a:stretch>
            <a:fillRect/>
          </a:stretch>
        </p:blipFill>
        <p:spPr>
          <a:xfrm>
            <a:off x="5034224" y="3999244"/>
            <a:ext cx="4686526" cy="2408756"/>
          </a:xfrm>
          <a:prstGeom prst="rect">
            <a:avLst/>
          </a:prstGeom>
        </p:spPr>
      </p:pic>
      <p:pic>
        <p:nvPicPr>
          <p:cNvPr id="3" name="Picture 2">
            <a:extLst>
              <a:ext uri="{FF2B5EF4-FFF2-40B4-BE49-F238E27FC236}">
                <a16:creationId xmlns:a16="http://schemas.microsoft.com/office/drawing/2014/main" id="{E1617A93-3300-7547-9559-BDD80657A4CF}"/>
              </a:ext>
            </a:extLst>
          </p:cNvPr>
          <p:cNvPicPr>
            <a:picLocks noChangeAspect="1"/>
          </p:cNvPicPr>
          <p:nvPr/>
        </p:nvPicPr>
        <p:blipFill>
          <a:blip r:embed="rId4"/>
          <a:stretch>
            <a:fillRect/>
          </a:stretch>
        </p:blipFill>
        <p:spPr>
          <a:xfrm>
            <a:off x="94290" y="3175938"/>
            <a:ext cx="4774311" cy="320409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3"/>
          <p:cNvSpPr txBox="1">
            <a:spLocks noGrp="1"/>
          </p:cNvSpPr>
          <p:nvPr>
            <p:ph type="title"/>
          </p:nvPr>
        </p:nvSpPr>
        <p:spPr>
          <a:xfrm>
            <a:off x="449468" y="1440000"/>
            <a:ext cx="8541300" cy="492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C0C0C"/>
              </a:buClr>
              <a:buSzPts val="3200"/>
              <a:buFont typeface="Arial"/>
              <a:buNone/>
            </a:pPr>
            <a:r>
              <a:rPr lang="en-US" dirty="0" err="1"/>
              <a:t>Kết</a:t>
            </a:r>
            <a:r>
              <a:rPr lang="en-US" dirty="0"/>
              <a:t> </a:t>
            </a:r>
            <a:r>
              <a:rPr lang="en-US" dirty="0" err="1"/>
              <a:t>luận</a:t>
            </a:r>
            <a:endParaRPr dirty="0"/>
          </a:p>
        </p:txBody>
      </p:sp>
      <p:sp>
        <p:nvSpPr>
          <p:cNvPr id="174" name="Google Shape;174;p23"/>
          <p:cNvSpPr txBox="1">
            <a:spLocks noGrp="1"/>
          </p:cNvSpPr>
          <p:nvPr>
            <p:ph type="body" idx="2"/>
          </p:nvPr>
        </p:nvSpPr>
        <p:spPr>
          <a:xfrm>
            <a:off x="522300" y="450000"/>
            <a:ext cx="7105500" cy="276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lt1"/>
              </a:buClr>
              <a:buSzPts val="1700"/>
              <a:buNone/>
            </a:pPr>
            <a:r>
              <a:rPr lang="en-US" dirty="0"/>
              <a:t>III. Demo &amp; </a:t>
            </a:r>
            <a:r>
              <a:rPr lang="en-US" dirty="0" err="1"/>
              <a:t>Tổng</a:t>
            </a:r>
            <a:r>
              <a:rPr lang="en-US" dirty="0"/>
              <a:t> </a:t>
            </a:r>
            <a:r>
              <a:rPr lang="en-US" dirty="0" err="1"/>
              <a:t>kết</a:t>
            </a:r>
            <a:endParaRPr dirty="0"/>
          </a:p>
        </p:txBody>
      </p:sp>
      <p:sp>
        <p:nvSpPr>
          <p:cNvPr id="175" name="Google Shape;175;p23"/>
          <p:cNvSpPr txBox="1">
            <a:spLocks noGrp="1"/>
          </p:cNvSpPr>
          <p:nvPr>
            <p:ph type="body" idx="5"/>
          </p:nvPr>
        </p:nvSpPr>
        <p:spPr>
          <a:xfrm>
            <a:off x="522288" y="2221661"/>
            <a:ext cx="8055300" cy="914400"/>
          </a:xfrm>
          <a:prstGeom prst="rect">
            <a:avLst/>
          </a:prstGeom>
          <a:noFill/>
          <a:ln>
            <a:noFill/>
          </a:ln>
        </p:spPr>
        <p:txBody>
          <a:bodyPr spcFirstLastPara="1" wrap="square" lIns="0" tIns="0" rIns="0" bIns="0" anchor="t" anchorCtr="0">
            <a:noAutofit/>
          </a:bodyPr>
          <a:lstStyle/>
          <a:p>
            <a:pPr marL="177746" lvl="0" indent="-177746" algn="l" rtl="0">
              <a:lnSpc>
                <a:spcPct val="128571"/>
              </a:lnSpc>
              <a:spcBef>
                <a:spcPts val="0"/>
              </a:spcBef>
              <a:spcAft>
                <a:spcPts val="0"/>
              </a:spcAft>
              <a:buClr>
                <a:srgbClr val="262626"/>
              </a:buClr>
              <a:buSzPts val="1470"/>
              <a:buFont typeface="Arial"/>
              <a:buChar char="•"/>
            </a:pPr>
            <a:r>
              <a:rPr lang="vi-VN" dirty="0"/>
              <a:t>Dự án thành công trong việc huấn luyện và xây dựng hệ thống nhận diện biển báo giao thông Việt Nam bằng việc ứng dụng mô hình YOLOv8-Medium và tích hợp mô hình xử lý ngôn ngữ tự nhiên Vintern-1B v3.5</a:t>
            </a:r>
          </a:p>
          <a:p>
            <a:pPr marL="177746" lvl="0" indent="-177746" algn="l" rtl="0">
              <a:lnSpc>
                <a:spcPct val="128571"/>
              </a:lnSpc>
              <a:spcBef>
                <a:spcPts val="0"/>
              </a:spcBef>
              <a:spcAft>
                <a:spcPts val="0"/>
              </a:spcAft>
              <a:buClr>
                <a:srgbClr val="262626"/>
              </a:buClr>
              <a:buSzPts val="1470"/>
              <a:buFont typeface="Arial"/>
              <a:buChar char="•"/>
            </a:pPr>
            <a:r>
              <a:rPr lang="vi-VN" dirty="0"/>
              <a:t>Kết quả thử nghiệm cho ra hiệu năng tốt với các lớp biển báo có trong bộ dữ liệu trong điều kiện môi trường khác nhau</a:t>
            </a:r>
          </a:p>
          <a:p>
            <a:pPr marL="177746" lvl="0" indent="-177746" algn="l" rtl="0">
              <a:lnSpc>
                <a:spcPct val="128571"/>
              </a:lnSpc>
              <a:spcBef>
                <a:spcPts val="0"/>
              </a:spcBef>
              <a:spcAft>
                <a:spcPts val="0"/>
              </a:spcAft>
              <a:buClr>
                <a:srgbClr val="262626"/>
              </a:buClr>
              <a:buSzPts val="1470"/>
              <a:buFont typeface="Arial"/>
              <a:buChar char="•"/>
            </a:pPr>
            <a:r>
              <a:rPr lang="vi-VN" dirty="0"/>
              <a:t>Áp dụng mô hình xử lý ngôn ngữ tự nhiên để xử lý các lớp biển phụ, biể chỉ dẫn có ký tự giúp hệ thống có khả năng nhận diện chi tiết và chính xác các tình huống phức tạp hơn</a:t>
            </a:r>
            <a:endParaRPr dirty="0"/>
          </a:p>
        </p:txBody>
      </p:sp>
    </p:spTree>
    <p:extLst>
      <p:ext uri="{BB962C8B-B14F-4D97-AF65-F5344CB8AC3E}">
        <p14:creationId xmlns:p14="http://schemas.microsoft.com/office/powerpoint/2010/main" val="19683558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3"/>
          <p:cNvSpPr txBox="1">
            <a:spLocks noGrp="1"/>
          </p:cNvSpPr>
          <p:nvPr>
            <p:ph type="title"/>
          </p:nvPr>
        </p:nvSpPr>
        <p:spPr>
          <a:xfrm>
            <a:off x="449468" y="1440000"/>
            <a:ext cx="8541300" cy="4926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C0C0C"/>
              </a:buClr>
              <a:buSzPts val="3200"/>
              <a:buFont typeface="Arial"/>
              <a:buNone/>
            </a:pPr>
            <a:r>
              <a:rPr lang="vi-VN" dirty="0"/>
              <a:t>Hạn chế</a:t>
            </a:r>
            <a:endParaRPr dirty="0"/>
          </a:p>
        </p:txBody>
      </p:sp>
      <p:sp>
        <p:nvSpPr>
          <p:cNvPr id="174" name="Google Shape;174;p23"/>
          <p:cNvSpPr txBox="1">
            <a:spLocks noGrp="1"/>
          </p:cNvSpPr>
          <p:nvPr>
            <p:ph type="body" idx="2"/>
          </p:nvPr>
        </p:nvSpPr>
        <p:spPr>
          <a:xfrm>
            <a:off x="522300" y="450000"/>
            <a:ext cx="7105500" cy="2769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lt1"/>
              </a:buClr>
              <a:buSzPts val="1700"/>
              <a:buNone/>
            </a:pPr>
            <a:r>
              <a:rPr lang="en-US" dirty="0"/>
              <a:t>III. Demo &amp; </a:t>
            </a:r>
            <a:r>
              <a:rPr lang="en-US" dirty="0" err="1"/>
              <a:t>Tổng</a:t>
            </a:r>
            <a:r>
              <a:rPr lang="en-US" dirty="0"/>
              <a:t> </a:t>
            </a:r>
            <a:r>
              <a:rPr lang="en-US" dirty="0" err="1"/>
              <a:t>kết</a:t>
            </a:r>
            <a:endParaRPr dirty="0"/>
          </a:p>
        </p:txBody>
      </p:sp>
      <p:sp>
        <p:nvSpPr>
          <p:cNvPr id="175" name="Google Shape;175;p23"/>
          <p:cNvSpPr txBox="1">
            <a:spLocks noGrp="1"/>
          </p:cNvSpPr>
          <p:nvPr>
            <p:ph type="body" idx="5"/>
          </p:nvPr>
        </p:nvSpPr>
        <p:spPr>
          <a:xfrm>
            <a:off x="522288" y="2221661"/>
            <a:ext cx="8055300" cy="914400"/>
          </a:xfrm>
          <a:prstGeom prst="rect">
            <a:avLst/>
          </a:prstGeom>
          <a:noFill/>
          <a:ln>
            <a:noFill/>
          </a:ln>
        </p:spPr>
        <p:txBody>
          <a:bodyPr spcFirstLastPara="1" wrap="square" lIns="0" tIns="0" rIns="0" bIns="0" anchor="t" anchorCtr="0">
            <a:noAutofit/>
          </a:bodyPr>
          <a:lstStyle/>
          <a:p>
            <a:pPr marL="177746" lvl="0" indent="-177746" algn="l" rtl="0">
              <a:lnSpc>
                <a:spcPct val="128571"/>
              </a:lnSpc>
              <a:spcBef>
                <a:spcPts val="0"/>
              </a:spcBef>
              <a:spcAft>
                <a:spcPts val="0"/>
              </a:spcAft>
              <a:buClr>
                <a:srgbClr val="262626"/>
              </a:buClr>
              <a:buSzPts val="1470"/>
              <a:buFont typeface="Arial"/>
              <a:buChar char="•"/>
            </a:pPr>
            <a:r>
              <a:rPr lang="vi-VN" dirty="0"/>
              <a:t>Độ chính xác của mô hình không vững, có thể bị ảnh hưởng trong nhiều điều kiện môi trường khác nhau</a:t>
            </a:r>
          </a:p>
          <a:p>
            <a:pPr marL="177746" lvl="0" indent="-177746" algn="l" rtl="0">
              <a:lnSpc>
                <a:spcPct val="128571"/>
              </a:lnSpc>
              <a:spcBef>
                <a:spcPts val="0"/>
              </a:spcBef>
              <a:spcAft>
                <a:spcPts val="0"/>
              </a:spcAft>
              <a:buClr>
                <a:srgbClr val="262626"/>
              </a:buClr>
              <a:buSzPts val="1470"/>
              <a:buFont typeface="Arial"/>
              <a:buChar char="•"/>
            </a:pPr>
            <a:r>
              <a:rPr lang="vi-VN" dirty="0"/>
              <a:t>Số lượng dữ liệu hạn chế, dẫn đến khả năng nhận diện chưa tối ưu trong các trường hợp</a:t>
            </a:r>
          </a:p>
          <a:p>
            <a:pPr marL="177746" lvl="0" indent="-177746" algn="l" rtl="0">
              <a:lnSpc>
                <a:spcPct val="128571"/>
              </a:lnSpc>
              <a:spcBef>
                <a:spcPts val="0"/>
              </a:spcBef>
              <a:spcAft>
                <a:spcPts val="0"/>
              </a:spcAft>
              <a:buClr>
                <a:srgbClr val="262626"/>
              </a:buClr>
              <a:buSzPts val="1470"/>
              <a:buFont typeface="Arial"/>
              <a:buChar char="•"/>
            </a:pPr>
            <a:r>
              <a:rPr lang="vi-VN" dirty="0"/>
              <a:t>Triển khai dự án trên các thiết bị nhúng với tìa nguyên hạn chế có thể gặp khó khăn về hiệu năng và tốc độ xử lý do kích thước mô hình</a:t>
            </a:r>
          </a:p>
          <a:p>
            <a:pPr marL="177746" lvl="0" indent="-177746" algn="l" rtl="0">
              <a:lnSpc>
                <a:spcPct val="128571"/>
              </a:lnSpc>
              <a:spcBef>
                <a:spcPts val="0"/>
              </a:spcBef>
              <a:spcAft>
                <a:spcPts val="0"/>
              </a:spcAft>
              <a:buClr>
                <a:srgbClr val="262626"/>
              </a:buClr>
              <a:buSzPts val="1470"/>
              <a:buFont typeface="Arial"/>
              <a:buChar char="•"/>
            </a:pPr>
            <a:r>
              <a:rPr lang="vi-VN" dirty="0"/>
              <a:t>Mô hình NLP được tích hợp chưa thực sự phát huy tối đa do rào cản về thời gian cũng như kỹ năng của cả nhóm</a:t>
            </a:r>
          </a:p>
          <a:p>
            <a:pPr marL="177746" lvl="0" indent="-177746" algn="l" rtl="0">
              <a:lnSpc>
                <a:spcPct val="128571"/>
              </a:lnSpc>
              <a:spcBef>
                <a:spcPts val="0"/>
              </a:spcBef>
              <a:spcAft>
                <a:spcPts val="0"/>
              </a:spcAft>
              <a:buClr>
                <a:srgbClr val="262626"/>
              </a:buClr>
              <a:buSzPts val="1470"/>
              <a:buFont typeface="Arial"/>
              <a:buChar char="•"/>
            </a:pPr>
            <a:r>
              <a:rPr lang="vi-VN" dirty="0"/>
              <a:t>Dự án mới chỉ dừng lại ở mức nghiên cứu, chưa có ứng dụng cụ thể cũng như giao diện ứng dụng</a:t>
            </a:r>
            <a:endParaRPr dirty="0"/>
          </a:p>
        </p:txBody>
      </p:sp>
    </p:spTree>
    <p:extLst>
      <p:ext uri="{BB962C8B-B14F-4D97-AF65-F5344CB8AC3E}">
        <p14:creationId xmlns:p14="http://schemas.microsoft.com/office/powerpoint/2010/main" val="1060463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0BB76D9-3CE7-C89B-D607-598822CAE597}"/>
              </a:ext>
            </a:extLst>
          </p:cNvPr>
          <p:cNvSpPr>
            <a:spLocks noGrp="1"/>
          </p:cNvSpPr>
          <p:nvPr>
            <p:ph type="body" idx="1"/>
          </p:nvPr>
        </p:nvSpPr>
        <p:spPr>
          <a:xfrm>
            <a:off x="449468" y="450000"/>
            <a:ext cx="532438" cy="276871"/>
          </a:xfrm>
        </p:spPr>
        <p:txBody>
          <a:bodyPr/>
          <a:lstStyle/>
          <a:p>
            <a:r>
              <a:rPr lang="en-US" dirty="0"/>
              <a:t>IV.</a:t>
            </a:r>
          </a:p>
        </p:txBody>
      </p:sp>
      <p:sp>
        <p:nvSpPr>
          <p:cNvPr id="4" name="Text Placeholder 3">
            <a:extLst>
              <a:ext uri="{FF2B5EF4-FFF2-40B4-BE49-F238E27FC236}">
                <a16:creationId xmlns:a16="http://schemas.microsoft.com/office/drawing/2014/main" id="{E17D1D30-F92B-46BC-E085-31CCA345CD99}"/>
              </a:ext>
            </a:extLst>
          </p:cNvPr>
          <p:cNvSpPr>
            <a:spLocks noGrp="1"/>
          </p:cNvSpPr>
          <p:nvPr>
            <p:ph type="body" idx="2"/>
          </p:nvPr>
        </p:nvSpPr>
        <p:spPr/>
        <p:txBody>
          <a:bodyPr/>
          <a:lstStyle/>
          <a:p>
            <a:r>
              <a:rPr lang="en-US" dirty="0" err="1"/>
              <a:t>Lời</a:t>
            </a:r>
            <a:r>
              <a:rPr lang="en-US" dirty="0"/>
              <a:t> </a:t>
            </a:r>
            <a:r>
              <a:rPr lang="en-US" dirty="0" err="1"/>
              <a:t>kết</a:t>
            </a:r>
            <a:endParaRPr lang="en-US" dirty="0"/>
          </a:p>
        </p:txBody>
      </p:sp>
      <p:pic>
        <p:nvPicPr>
          <p:cNvPr id="9" name="Picture 8">
            <a:extLst>
              <a:ext uri="{FF2B5EF4-FFF2-40B4-BE49-F238E27FC236}">
                <a16:creationId xmlns:a16="http://schemas.microsoft.com/office/drawing/2014/main" id="{5799837F-8B5F-F13F-E031-18C77FD59893}"/>
              </a:ext>
            </a:extLst>
          </p:cNvPr>
          <p:cNvPicPr>
            <a:picLocks noChangeAspect="1"/>
          </p:cNvPicPr>
          <p:nvPr/>
        </p:nvPicPr>
        <p:blipFill>
          <a:blip r:embed="rId2"/>
          <a:stretch>
            <a:fillRect/>
          </a:stretch>
        </p:blipFill>
        <p:spPr>
          <a:xfrm>
            <a:off x="1300619" y="2234214"/>
            <a:ext cx="7301586" cy="4173785"/>
          </a:xfrm>
          <a:prstGeom prst="rect">
            <a:avLst/>
          </a:prstGeom>
        </p:spPr>
      </p:pic>
      <p:sp>
        <p:nvSpPr>
          <p:cNvPr id="10" name="Google Shape;173;p23">
            <a:extLst>
              <a:ext uri="{FF2B5EF4-FFF2-40B4-BE49-F238E27FC236}">
                <a16:creationId xmlns:a16="http://schemas.microsoft.com/office/drawing/2014/main" id="{768B60FC-42B5-2A24-6BA8-EC58E148E605}"/>
              </a:ext>
            </a:extLst>
          </p:cNvPr>
          <p:cNvSpPr txBox="1">
            <a:spLocks noGrp="1"/>
          </p:cNvSpPr>
          <p:nvPr>
            <p:ph type="title"/>
          </p:nvPr>
        </p:nvSpPr>
        <p:spPr>
          <a:xfrm>
            <a:off x="449468" y="1440000"/>
            <a:ext cx="8541300" cy="615553"/>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Clr>
                <a:srgbClr val="0C0C0C"/>
              </a:buClr>
              <a:buSzPts val="3200"/>
              <a:buFont typeface="Arial"/>
              <a:buNone/>
            </a:pPr>
            <a:r>
              <a:rPr lang="en-US" sz="2000" dirty="0" err="1"/>
              <a:t>Nhóm</a:t>
            </a:r>
            <a:r>
              <a:rPr lang="en-US" sz="2000" dirty="0"/>
              <a:t> 14: Vũ Minh </a:t>
            </a:r>
            <a:r>
              <a:rPr lang="en-US" sz="2000" dirty="0" err="1"/>
              <a:t>Đức</a:t>
            </a:r>
            <a:r>
              <a:rPr lang="en-US" sz="2000" dirty="0"/>
              <a:t>, </a:t>
            </a:r>
            <a:r>
              <a:rPr lang="en-US" sz="2000" dirty="0" err="1"/>
              <a:t>Đặng</a:t>
            </a:r>
            <a:r>
              <a:rPr lang="en-US" sz="2000" dirty="0"/>
              <a:t> Hoàng An, </a:t>
            </a:r>
            <a:r>
              <a:rPr lang="en-US" sz="2000" dirty="0" err="1"/>
              <a:t>Trần</a:t>
            </a:r>
            <a:r>
              <a:rPr lang="en-US" sz="2000" dirty="0"/>
              <a:t> </a:t>
            </a:r>
            <a:r>
              <a:rPr lang="en-US" sz="2000" dirty="0" err="1"/>
              <a:t>Trọng</a:t>
            </a:r>
            <a:r>
              <a:rPr lang="en-US" sz="2000" dirty="0"/>
              <a:t> Hoàn</a:t>
            </a:r>
            <a:br>
              <a:rPr lang="en-US" sz="2000" dirty="0"/>
            </a:br>
            <a:r>
              <a:rPr lang="en-US" sz="2000" dirty="0" err="1"/>
              <a:t>Cảm</a:t>
            </a:r>
            <a:r>
              <a:rPr lang="en-US" sz="2000" dirty="0"/>
              <a:t> </a:t>
            </a:r>
            <a:r>
              <a:rPr lang="en-US" sz="2000" dirty="0" err="1"/>
              <a:t>ơn</a:t>
            </a:r>
            <a:r>
              <a:rPr lang="en-US" sz="2000" dirty="0"/>
              <a:t> </a:t>
            </a:r>
            <a:r>
              <a:rPr lang="en-US" sz="2000" dirty="0" err="1"/>
              <a:t>mọi</a:t>
            </a:r>
            <a:r>
              <a:rPr lang="en-US" sz="2000" dirty="0"/>
              <a:t> </a:t>
            </a:r>
            <a:r>
              <a:rPr lang="en-US" sz="2000" dirty="0" err="1"/>
              <a:t>người</a:t>
            </a:r>
            <a:r>
              <a:rPr lang="en-US" sz="2000" dirty="0"/>
              <a:t> </a:t>
            </a:r>
            <a:r>
              <a:rPr lang="en-US" sz="2000" dirty="0" err="1"/>
              <a:t>đã</a:t>
            </a:r>
            <a:r>
              <a:rPr lang="en-US" sz="2000" dirty="0"/>
              <a:t> </a:t>
            </a:r>
            <a:r>
              <a:rPr lang="en-US" sz="2000" dirty="0" err="1"/>
              <a:t>lắng</a:t>
            </a:r>
            <a:r>
              <a:rPr lang="en-US" sz="2000" dirty="0"/>
              <a:t> </a:t>
            </a:r>
            <a:r>
              <a:rPr lang="en-US" sz="2000" dirty="0" err="1"/>
              <a:t>nghe</a:t>
            </a:r>
            <a:endParaRPr sz="2000" dirty="0"/>
          </a:p>
        </p:txBody>
      </p:sp>
    </p:spTree>
    <p:extLst>
      <p:ext uri="{BB962C8B-B14F-4D97-AF65-F5344CB8AC3E}">
        <p14:creationId xmlns:p14="http://schemas.microsoft.com/office/powerpoint/2010/main" val="408505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테마">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301</TotalTime>
  <Words>1715</Words>
  <Application>Microsoft Office PowerPoint</Application>
  <PresentationFormat>Custom</PresentationFormat>
  <Paragraphs>140</Paragraphs>
  <Slides>23</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Malgun Gothic</vt:lpstr>
      <vt:lpstr>Arial</vt:lpstr>
      <vt:lpstr>Calibri</vt:lpstr>
      <vt:lpstr>Consolas</vt:lpstr>
      <vt:lpstr>Office Theme</vt:lpstr>
      <vt:lpstr>Traffic Sign Detection</vt:lpstr>
      <vt:lpstr>PowerPoint Presentation</vt:lpstr>
      <vt:lpstr>1.1. Giới thiệu vấn đề</vt:lpstr>
      <vt:lpstr>1.2. Động lực và Mục tiêu </vt:lpstr>
      <vt:lpstr>1.2. Mục tiêu </vt:lpstr>
      <vt:lpstr>1.3. Thành viên và phân công công việc</vt:lpstr>
      <vt:lpstr>2.2. Chi tiết quá trình làm việc</vt:lpstr>
      <vt:lpstr>2.1. Tập dữ liệu</vt:lpstr>
      <vt:lpstr>2.1. Tập dữ liệu</vt:lpstr>
      <vt:lpstr>2.2. Huấn luyện mô hình</vt:lpstr>
      <vt:lpstr>2.2. Xây dung hệ thống nhận diện</vt:lpstr>
      <vt:lpstr>Sơ đồ hoạt động của hệ thống</vt:lpstr>
      <vt:lpstr>Xác định biển báo</vt:lpstr>
      <vt:lpstr>Đọc ký tự trên biển báo</vt:lpstr>
      <vt:lpstr>Sơ đồ hoạt động của thuật toán nhận diện biển báo có mũi tên</vt:lpstr>
      <vt:lpstr>Quản lý Cache OCR</vt:lpstr>
      <vt:lpstr>Luồng xử lý chính</vt:lpstr>
      <vt:lpstr>Sơ đồ tổng quát</vt:lpstr>
      <vt:lpstr>3.2.Thử nghiệm hệ thống</vt:lpstr>
      <vt:lpstr>Kết luận</vt:lpstr>
      <vt:lpstr>Hạn chế</vt:lpstr>
      <vt:lpstr>Nhóm 14: Vũ Minh Đức, Đặng Hoàng An, Trần Trọng Hoàn Cảm ơn mọi người đã lắng nghe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 Sign Detection</dc:title>
  <cp:lastModifiedBy>ADMIN</cp:lastModifiedBy>
  <cp:revision>14</cp:revision>
  <dcterms:modified xsi:type="dcterms:W3CDTF">2025-08-07T03:31:57Z</dcterms:modified>
</cp:coreProperties>
</file>